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2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Entries</c:v>
                </c:pt>
              </c:strCache>
            </c:strRef>
          </c:tx>
          <c:spPr>
            <a:solidFill>
              <a:srgbClr val="FFE81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E8E2C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Characters</c:v>
                  </c:pt>
                  <c:pt idx="1">
                    <c:v>Locations</c:v>
                  </c:pt>
                  <c:pt idx="2">
                    <c:v>Vehicles</c:v>
                  </c:pt>
                  <c:pt idx="3">
                    <c:v>Creatures</c:v>
                  </c:pt>
                  <c:pt idx="4">
                    <c:v>Species</c:v>
                  </c:pt>
                  <c:pt idx="5">
                    <c:v>Droids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1148</c:v>
                </c:pt>
                <c:pt idx="1">
                  <c:v>394</c:v>
                </c:pt>
                <c:pt idx="2">
                  <c:v>295</c:v>
                </c:pt>
                <c:pt idx="3">
                  <c:v>92</c:v>
                </c:pt>
                <c:pt idx="4">
                  <c:v>84</c:v>
                </c:pt>
                <c:pt idx="5">
                  <c:v>67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50" u="none">
                  <a:solidFill>
                    <a:srgbClr val="E8E2C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2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96917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E1C10"/>
        </a:solidFill>
        <a:ln>
          <a:noFill/>
        </a:ln>
        <a:effectLst/>
      </c:spPr>
    </c:plotArea>
    <c:plotVisOnly val="1"/>
    <c:dispBlanksAs val="span"/>
  </c:chart>
  <c:spPr>
    <a:solidFill>
      <a:srgbClr val="1E1C10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Tests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FE81F"/>
              </a:solidFill>
              <a:effectLst/>
            </c:spPr>
          </c:dPt>
          <c:dPt>
            <c:idx val="1"/>
            <c:bubble3D val="0"/>
            <c:spPr>
              <a:solidFill>
                <a:srgbClr val="4DF0FF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141308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141308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Backend  96</c:v>
                </c:pt>
                <c:pt idx="1">
                  <c:v>Mobile  14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96</c:v>
                </c:pt>
                <c:pt idx="1">
                  <c:v>14</c:v>
                </c:pt>
              </c:numCache>
            </c:numRef>
          </c:val>
        </c:ser>
        <c:firstSliceAng val="0"/>
        <c:holeSize val="58"/>
      </c:doughnutChart>
      <c:spPr>
        <a:solidFill>
          <a:srgbClr val="1E1C10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969178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1E1C1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 xml:space="preserve"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 xml:space="preserve">Click to edit Master text styles</a:t>
            </a:r>
          </a:p>
          <a:p>
            <a:pPr lvl="1"/>
            <a:r>
              <a:rPr lang="en-US"/>
              <a:t xml:space="preserve">Second level</a:t>
            </a:r>
          </a:p>
          <a:p>
            <a:pPr lvl="2"/>
            <a:r>
              <a:rPr lang="en-US"/>
              <a:t xml:space="preserve">Third level</a:t>
            </a:r>
          </a:p>
          <a:p>
            <a:pPr lvl="3"/>
            <a:r>
              <a:rPr lang="en-US"/>
              <a:t xml:space="preserve">Fourth level</a:t>
            </a:r>
          </a:p>
          <a:p>
            <a:pPr lvl="4"/>
            <a:r>
              <a:rPr lang="en-US"/>
              <a:t xml:space="preserve"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 xml:space="preserve"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 xml:space="preserve">Star Wars Explorer is a monorepo project: a Fastify API that merges two public Star Wars data sources, and an Expo/React Native app that consumes it. This deck covers structure, architecture and technology for both technical and non-technical audiences.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 xml:space="preserve"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 xml:space="preserve">Non-technical framing: what the product does and why the data merge matters.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 xml:space="preserve"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 xml:space="preserve">Scale of the project in concrete figures. The bar chart is the on-disk Databank, synced from StarWars.com.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 xml:space="preserve"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 xml:space="preserve">Classic three-tier split. The key idea: all complexity is absorbed by the middle layer.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 xml:space="preserve"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 xml:space="preserve">Monorepo layout and the three reasons it was chosen.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 xml:space="preserve"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 xml:space="preserve">The two backend modules and the five-stage request path they share.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 xml:space="preserve"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 xml:space="preserve">The core value proposition of the backend: one record with stats, relationships and artwork together.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 xml:space="preserve"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 xml:space="preserve">The matching engine is the most interesting piece of the backend: real naming drift between two real sources, solved with tiered confidence plus two hard-won guardrails.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 xml:space="preserve"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 xml:space="preserve">Normalising references to ids is what makes the detail screens navigable in both directions.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 xml:space="preserve"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 xml:space="preserve">The mobile architecture point: configuration over duplication.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 xml:space="preserve"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 xml:space="preserve">Narrative walk-through suitable for a non-technical audience, with the technical terms attached.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 xml:space="preserve"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 xml:space="preserve">Every dependency earns its place — this slide pairs each with the single reason it is there.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 xml:space="preserve"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 xml:space="preserve">Quality story: tests, types, runtime validation and commit hooks.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 xml:space="preserve"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 xml:space="preserve">Roadmap with honest status: two apps shipped, the web app scaffolded but not built.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 xml:space="preserve"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 xml:space="preserve">Thank you /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 xml:space="preserve"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1.png"/><Relationship Id="rId3" Type="http://schemas.openxmlformats.org/officeDocument/2006/relationships/image" Target="../media/image-7-1.png"/><Relationship Id="rId4" Type="http://schemas.openxmlformats.org/officeDocument/2006/relationships/image" Target="../media/image-7-4.png"/><Relationship Id="rId5" Type="http://schemas.openxmlformats.org/officeDocument/2006/relationships/image" Target="../media/image-7-4.png"/><Relationship Id="rId6" Type="http://schemas.openxmlformats.org/officeDocument/2006/relationships/image" Target="../media/image-7-1.png"/><Relationship Id="rId7" Type="http://schemas.openxmlformats.org/officeDocument/2006/relationships/image" Target="../media/image-7-1.png"/><Relationship Id="rId8" Type="http://schemas.openxmlformats.org/officeDocument/2006/relationships/image" Target="../media/image-7-1.png"/><Relationship Id="rId9" Type="http://schemas.openxmlformats.org/officeDocument/2006/relationships/image" Target="../media/image-7-4.png"/><Relationship Id="rId10" Type="http://schemas.openxmlformats.org/officeDocument/2006/relationships/image" Target="../media/image-7-4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2.xml"/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D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0220" y="6118800"/>
            <a:ext cx="20922" cy="20922"/>
          </a:xfrm>
          <a:prstGeom prst="ellipse">
            <a:avLst/>
          </a:prstGeom>
          <a:solidFill>
            <a:srgbClr val="E8E2CF"/>
          </a:solidFill>
          <a:ln/>
        </p:spPr>
      </p:sp>
      <p:sp>
        <p:nvSpPr>
          <p:cNvPr id="3" name="Shape 1"/>
          <p:cNvSpPr/>
          <p:nvPr/>
        </p:nvSpPr>
        <p:spPr>
          <a:xfrm>
            <a:off x="1445204" y="5296512"/>
            <a:ext cx="21222" cy="21222"/>
          </a:xfrm>
          <a:prstGeom prst="ellipse">
            <a:avLst/>
          </a:prstGeom>
          <a:solidFill>
            <a:srgbClr val="4DF0FF"/>
          </a:solidFill>
          <a:ln/>
        </p:spPr>
      </p:sp>
      <p:sp>
        <p:nvSpPr>
          <p:cNvPr id="4" name="Shape 2"/>
          <p:cNvSpPr/>
          <p:nvPr/>
        </p:nvSpPr>
        <p:spPr>
          <a:xfrm>
            <a:off x="12161025" y="5415769"/>
            <a:ext cx="31847" cy="31847"/>
          </a:xfrm>
          <a:prstGeom prst="ellipse">
            <a:avLst/>
          </a:prstGeom>
          <a:solidFill>
            <a:srgbClr val="E8E2CF"/>
          </a:solidFill>
          <a:ln/>
        </p:spPr>
      </p:sp>
      <p:sp>
        <p:nvSpPr>
          <p:cNvPr id="5" name="Shape 3"/>
          <p:cNvSpPr/>
          <p:nvPr/>
        </p:nvSpPr>
        <p:spPr>
          <a:xfrm>
            <a:off x="7627819" y="980452"/>
            <a:ext cx="21937" cy="21937"/>
          </a:xfrm>
          <a:prstGeom prst="ellipse">
            <a:avLst/>
          </a:prstGeom>
          <a:solidFill>
            <a:srgbClr val="E8E2CF"/>
          </a:solidFill>
          <a:ln/>
        </p:spPr>
      </p:sp>
      <p:sp>
        <p:nvSpPr>
          <p:cNvPr id="6" name="Shape 4"/>
          <p:cNvSpPr/>
          <p:nvPr/>
        </p:nvSpPr>
        <p:spPr>
          <a:xfrm>
            <a:off x="11405597" y="4308597"/>
            <a:ext cx="52042" cy="52042"/>
          </a:xfrm>
          <a:prstGeom prst="ellipse">
            <a:avLst/>
          </a:prstGeom>
          <a:solidFill>
            <a:srgbClr val="E8E2CF"/>
          </a:solidFill>
          <a:ln/>
        </p:spPr>
      </p:sp>
      <p:sp>
        <p:nvSpPr>
          <p:cNvPr id="7" name="Shape 5"/>
          <p:cNvSpPr/>
          <p:nvPr/>
        </p:nvSpPr>
        <p:spPr>
          <a:xfrm>
            <a:off x="7373858" y="6781746"/>
            <a:ext cx="29318" cy="29318"/>
          </a:xfrm>
          <a:prstGeom prst="ellipse">
            <a:avLst/>
          </a:prstGeom>
          <a:solidFill>
            <a:srgbClr val="FFE81F"/>
          </a:solidFill>
          <a:ln/>
        </p:spPr>
      </p:sp>
      <p:sp>
        <p:nvSpPr>
          <p:cNvPr id="8" name="Shape 6"/>
          <p:cNvSpPr/>
          <p:nvPr/>
        </p:nvSpPr>
        <p:spPr>
          <a:xfrm>
            <a:off x="524250" y="2319739"/>
            <a:ext cx="45273" cy="45273"/>
          </a:xfrm>
          <a:prstGeom prst="ellipse">
            <a:avLst/>
          </a:prstGeom>
          <a:solidFill>
            <a:srgbClr val="E8E2CF"/>
          </a:solidFill>
          <a:ln/>
        </p:spPr>
      </p:sp>
      <p:sp>
        <p:nvSpPr>
          <p:cNvPr id="9" name="Shape 7"/>
          <p:cNvSpPr/>
          <p:nvPr/>
        </p:nvSpPr>
        <p:spPr>
          <a:xfrm>
            <a:off x="9038719" y="3662539"/>
            <a:ext cx="48277" cy="48277"/>
          </a:xfrm>
          <a:prstGeom prst="ellipse">
            <a:avLst/>
          </a:prstGeom>
          <a:solidFill>
            <a:srgbClr val="4DF0FF"/>
          </a:solidFill>
          <a:ln/>
        </p:spPr>
      </p:sp>
      <p:sp>
        <p:nvSpPr>
          <p:cNvPr id="10" name="Shape 8"/>
          <p:cNvSpPr/>
          <p:nvPr/>
        </p:nvSpPr>
        <p:spPr>
          <a:xfrm>
            <a:off x="11380115" y="2098662"/>
            <a:ext cx="27197" cy="27197"/>
          </a:xfrm>
          <a:prstGeom prst="ellipse">
            <a:avLst/>
          </a:prstGeom>
          <a:solidFill>
            <a:srgbClr val="E8E2CF"/>
          </a:solidFill>
          <a:ln/>
        </p:spPr>
      </p:sp>
      <p:sp>
        <p:nvSpPr>
          <p:cNvPr id="11" name="Shape 9"/>
          <p:cNvSpPr/>
          <p:nvPr/>
        </p:nvSpPr>
        <p:spPr>
          <a:xfrm>
            <a:off x="11233920" y="5842483"/>
            <a:ext cx="18254" cy="18254"/>
          </a:xfrm>
          <a:prstGeom prst="ellipse">
            <a:avLst/>
          </a:prstGeom>
          <a:solidFill>
            <a:srgbClr val="E8E2CF"/>
          </a:solidFill>
          <a:ln/>
        </p:spPr>
      </p:sp>
      <p:sp>
        <p:nvSpPr>
          <p:cNvPr id="12" name="Shape 10"/>
          <p:cNvSpPr/>
          <p:nvPr/>
        </p:nvSpPr>
        <p:spPr>
          <a:xfrm>
            <a:off x="8443157" y="1679836"/>
            <a:ext cx="29440" cy="29440"/>
          </a:xfrm>
          <a:prstGeom prst="ellipse">
            <a:avLst/>
          </a:prstGeom>
          <a:solidFill>
            <a:srgbClr val="FFE81F"/>
          </a:solidFill>
          <a:ln/>
        </p:spPr>
      </p:sp>
      <p:sp>
        <p:nvSpPr>
          <p:cNvPr id="13" name="Shape 11"/>
          <p:cNvSpPr/>
          <p:nvPr/>
        </p:nvSpPr>
        <p:spPr>
          <a:xfrm>
            <a:off x="10064483" y="2356165"/>
            <a:ext cx="28618" cy="28618"/>
          </a:xfrm>
          <a:prstGeom prst="ellipse">
            <a:avLst/>
          </a:prstGeom>
          <a:solidFill>
            <a:srgbClr val="E8E2CF"/>
          </a:solidFill>
          <a:ln/>
        </p:spPr>
      </p:sp>
      <p:sp>
        <p:nvSpPr>
          <p:cNvPr id="14" name="Shape 12"/>
          <p:cNvSpPr/>
          <p:nvPr/>
        </p:nvSpPr>
        <p:spPr>
          <a:xfrm>
            <a:off x="3830687" y="6433988"/>
            <a:ext cx="37335" cy="37335"/>
          </a:xfrm>
          <a:prstGeom prst="ellipse">
            <a:avLst/>
          </a:prstGeom>
          <a:solidFill>
            <a:srgbClr val="E8E2CF"/>
          </a:solidFill>
          <a:ln/>
        </p:spPr>
      </p:sp>
      <p:sp>
        <p:nvSpPr>
          <p:cNvPr id="15" name="Shape 13"/>
          <p:cNvSpPr/>
          <p:nvPr/>
        </p:nvSpPr>
        <p:spPr>
          <a:xfrm>
            <a:off x="11971853" y="3996426"/>
            <a:ext cx="18188" cy="18188"/>
          </a:xfrm>
          <a:prstGeom prst="ellipse">
            <a:avLst/>
          </a:prstGeom>
          <a:solidFill>
            <a:srgbClr val="E8E2CF"/>
          </a:solidFill>
          <a:ln/>
        </p:spPr>
      </p:sp>
      <p:sp>
        <p:nvSpPr>
          <p:cNvPr id="16" name="Shape 14"/>
          <p:cNvSpPr/>
          <p:nvPr/>
        </p:nvSpPr>
        <p:spPr>
          <a:xfrm>
            <a:off x="7145855" y="5265535"/>
            <a:ext cx="32763" cy="32763"/>
          </a:xfrm>
          <a:prstGeom prst="ellipse">
            <a:avLst/>
          </a:prstGeom>
          <a:solidFill>
            <a:srgbClr val="E8E2CF"/>
          </a:solidFill>
          <a:ln/>
        </p:spPr>
      </p:sp>
      <p:sp>
        <p:nvSpPr>
          <p:cNvPr id="17" name="Shape 15"/>
          <p:cNvSpPr/>
          <p:nvPr/>
        </p:nvSpPr>
        <p:spPr>
          <a:xfrm>
            <a:off x="6803211" y="5536824"/>
            <a:ext cx="41242" cy="41242"/>
          </a:xfrm>
          <a:prstGeom prst="ellipse">
            <a:avLst/>
          </a:prstGeom>
          <a:solidFill>
            <a:srgbClr val="E8E2CF"/>
          </a:solidFill>
          <a:ln/>
        </p:spPr>
      </p:sp>
      <p:sp>
        <p:nvSpPr>
          <p:cNvPr id="18" name="Shape 16"/>
          <p:cNvSpPr/>
          <p:nvPr/>
        </p:nvSpPr>
        <p:spPr>
          <a:xfrm>
            <a:off x="10900955" y="3219984"/>
            <a:ext cx="48162" cy="48162"/>
          </a:xfrm>
          <a:prstGeom prst="ellipse">
            <a:avLst/>
          </a:prstGeom>
          <a:solidFill>
            <a:srgbClr val="4DF0FF"/>
          </a:solidFill>
          <a:ln/>
        </p:spPr>
      </p:sp>
      <p:sp>
        <p:nvSpPr>
          <p:cNvPr id="19" name="Shape 17"/>
          <p:cNvSpPr/>
          <p:nvPr/>
        </p:nvSpPr>
        <p:spPr>
          <a:xfrm>
            <a:off x="10004726" y="5062273"/>
            <a:ext cx="42138" cy="42138"/>
          </a:xfrm>
          <a:prstGeom prst="ellipse">
            <a:avLst/>
          </a:prstGeom>
          <a:solidFill>
            <a:srgbClr val="E8E2CF"/>
          </a:solidFill>
          <a:ln/>
        </p:spPr>
      </p:sp>
      <p:sp>
        <p:nvSpPr>
          <p:cNvPr id="20" name="Shape 18"/>
          <p:cNvSpPr/>
          <p:nvPr/>
        </p:nvSpPr>
        <p:spPr>
          <a:xfrm>
            <a:off x="10863025" y="4551894"/>
            <a:ext cx="27680" cy="27680"/>
          </a:xfrm>
          <a:prstGeom prst="ellipse">
            <a:avLst/>
          </a:prstGeom>
          <a:solidFill>
            <a:srgbClr val="E8E2CF"/>
          </a:solidFill>
          <a:ln/>
        </p:spPr>
      </p:sp>
      <p:sp>
        <p:nvSpPr>
          <p:cNvPr id="21" name="Shape 19"/>
          <p:cNvSpPr/>
          <p:nvPr/>
        </p:nvSpPr>
        <p:spPr>
          <a:xfrm>
            <a:off x="2441975" y="785432"/>
            <a:ext cx="24323" cy="24323"/>
          </a:xfrm>
          <a:prstGeom prst="ellipse">
            <a:avLst/>
          </a:prstGeom>
          <a:solidFill>
            <a:srgbClr val="E8E2CF"/>
          </a:solidFill>
          <a:ln/>
        </p:spPr>
      </p:sp>
      <p:sp>
        <p:nvSpPr>
          <p:cNvPr id="22" name="Shape 20"/>
          <p:cNvSpPr/>
          <p:nvPr/>
        </p:nvSpPr>
        <p:spPr>
          <a:xfrm>
            <a:off x="10178631" y="3723177"/>
            <a:ext cx="47778" cy="47778"/>
          </a:xfrm>
          <a:prstGeom prst="ellipse">
            <a:avLst/>
          </a:prstGeom>
          <a:solidFill>
            <a:srgbClr val="E8E2CF"/>
          </a:solidFill>
          <a:ln/>
        </p:spPr>
      </p:sp>
      <p:sp>
        <p:nvSpPr>
          <p:cNvPr id="23" name="Shape 21"/>
          <p:cNvSpPr/>
          <p:nvPr/>
        </p:nvSpPr>
        <p:spPr>
          <a:xfrm>
            <a:off x="8918494" y="6558798"/>
            <a:ext cx="49269" cy="49269"/>
          </a:xfrm>
          <a:prstGeom prst="ellipse">
            <a:avLst/>
          </a:prstGeom>
          <a:solidFill>
            <a:srgbClr val="E8E2CF"/>
          </a:solidFill>
          <a:ln/>
        </p:spPr>
      </p:sp>
      <p:sp>
        <p:nvSpPr>
          <p:cNvPr id="24" name="Shape 22"/>
          <p:cNvSpPr/>
          <p:nvPr/>
        </p:nvSpPr>
        <p:spPr>
          <a:xfrm>
            <a:off x="12164494" y="6126170"/>
            <a:ext cx="29810" cy="29810"/>
          </a:xfrm>
          <a:prstGeom prst="ellipse">
            <a:avLst/>
          </a:prstGeom>
          <a:solidFill>
            <a:srgbClr val="E8E2CF"/>
          </a:solidFill>
          <a:ln/>
        </p:spPr>
      </p:sp>
      <p:sp>
        <p:nvSpPr>
          <p:cNvPr id="25" name="Shape 23"/>
          <p:cNvSpPr/>
          <p:nvPr/>
        </p:nvSpPr>
        <p:spPr>
          <a:xfrm>
            <a:off x="9205742" y="5350745"/>
            <a:ext cx="53118" cy="53118"/>
          </a:xfrm>
          <a:prstGeom prst="ellipse">
            <a:avLst/>
          </a:prstGeom>
          <a:solidFill>
            <a:srgbClr val="E8E2CF"/>
          </a:solidFill>
          <a:ln/>
        </p:spPr>
      </p:sp>
      <p:sp>
        <p:nvSpPr>
          <p:cNvPr id="26" name="Shape 24"/>
          <p:cNvSpPr/>
          <p:nvPr/>
        </p:nvSpPr>
        <p:spPr>
          <a:xfrm>
            <a:off x="196883" y="5058423"/>
            <a:ext cx="29165" cy="29165"/>
          </a:xfrm>
          <a:prstGeom prst="ellipse">
            <a:avLst/>
          </a:prstGeom>
          <a:solidFill>
            <a:srgbClr val="E8E2CF"/>
          </a:solidFill>
          <a:ln/>
        </p:spPr>
      </p:sp>
      <p:sp>
        <p:nvSpPr>
          <p:cNvPr id="27" name="Shape 25"/>
          <p:cNvSpPr/>
          <p:nvPr/>
        </p:nvSpPr>
        <p:spPr>
          <a:xfrm>
            <a:off x="10162315" y="6219950"/>
            <a:ext cx="23339" cy="23339"/>
          </a:xfrm>
          <a:prstGeom prst="ellipse">
            <a:avLst/>
          </a:prstGeom>
          <a:solidFill>
            <a:srgbClr val="4DF0FF"/>
          </a:solidFill>
          <a:ln/>
        </p:spPr>
      </p:sp>
      <p:sp>
        <p:nvSpPr>
          <p:cNvPr id="28" name="Shape 26"/>
          <p:cNvSpPr/>
          <p:nvPr/>
        </p:nvSpPr>
        <p:spPr>
          <a:xfrm>
            <a:off x="464742" y="3737966"/>
            <a:ext cx="47276" cy="47276"/>
          </a:xfrm>
          <a:prstGeom prst="ellipse">
            <a:avLst/>
          </a:prstGeom>
          <a:solidFill>
            <a:srgbClr val="FFE81F"/>
          </a:solidFill>
          <a:ln/>
        </p:spPr>
      </p:sp>
      <p:sp>
        <p:nvSpPr>
          <p:cNvPr id="29" name="Shape 27"/>
          <p:cNvSpPr/>
          <p:nvPr/>
        </p:nvSpPr>
        <p:spPr>
          <a:xfrm>
            <a:off x="12123700" y="3288779"/>
            <a:ext cx="46020" cy="46020"/>
          </a:xfrm>
          <a:prstGeom prst="ellipse">
            <a:avLst/>
          </a:prstGeom>
          <a:solidFill>
            <a:srgbClr val="E8E2CF"/>
          </a:solidFill>
          <a:ln/>
        </p:spPr>
      </p:sp>
      <p:sp>
        <p:nvSpPr>
          <p:cNvPr id="30" name="Shape 28"/>
          <p:cNvSpPr/>
          <p:nvPr/>
        </p:nvSpPr>
        <p:spPr>
          <a:xfrm>
            <a:off x="10508372" y="677528"/>
            <a:ext cx="47955" cy="47955"/>
          </a:xfrm>
          <a:prstGeom prst="ellipse">
            <a:avLst/>
          </a:prstGeom>
          <a:solidFill>
            <a:srgbClr val="E8E2CF"/>
          </a:solidFill>
          <a:ln/>
        </p:spPr>
      </p:sp>
      <p:sp>
        <p:nvSpPr>
          <p:cNvPr id="31" name="Shape 29"/>
          <p:cNvSpPr/>
          <p:nvPr/>
        </p:nvSpPr>
        <p:spPr>
          <a:xfrm>
            <a:off x="3057626" y="1135752"/>
            <a:ext cx="18913" cy="18913"/>
          </a:xfrm>
          <a:prstGeom prst="ellipse">
            <a:avLst/>
          </a:prstGeom>
          <a:solidFill>
            <a:srgbClr val="4DF0FF"/>
          </a:solidFill>
          <a:ln/>
        </p:spPr>
      </p:sp>
      <p:sp>
        <p:nvSpPr>
          <p:cNvPr id="32" name="Shape 30"/>
          <p:cNvSpPr/>
          <p:nvPr/>
        </p:nvSpPr>
        <p:spPr>
          <a:xfrm>
            <a:off x="11952379" y="1878864"/>
            <a:ext cx="33969" cy="33969"/>
          </a:xfrm>
          <a:prstGeom prst="ellipse">
            <a:avLst/>
          </a:prstGeom>
          <a:solidFill>
            <a:srgbClr val="FFE81F"/>
          </a:solidFill>
          <a:ln/>
        </p:spPr>
      </p:sp>
      <p:sp>
        <p:nvSpPr>
          <p:cNvPr id="33" name="Shape 31"/>
          <p:cNvSpPr/>
          <p:nvPr/>
        </p:nvSpPr>
        <p:spPr>
          <a:xfrm>
            <a:off x="5890877" y="575841"/>
            <a:ext cx="30788" cy="30788"/>
          </a:xfrm>
          <a:prstGeom prst="ellipse">
            <a:avLst/>
          </a:prstGeom>
          <a:solidFill>
            <a:srgbClr val="E8E2CF"/>
          </a:solidFill>
          <a:ln/>
        </p:spPr>
      </p:sp>
      <p:sp>
        <p:nvSpPr>
          <p:cNvPr id="34" name="Shape 32"/>
          <p:cNvSpPr/>
          <p:nvPr/>
        </p:nvSpPr>
        <p:spPr>
          <a:xfrm>
            <a:off x="8481682" y="4038067"/>
            <a:ext cx="48544" cy="48544"/>
          </a:xfrm>
          <a:prstGeom prst="ellipse">
            <a:avLst/>
          </a:prstGeom>
          <a:solidFill>
            <a:srgbClr val="E8E2CF"/>
          </a:solidFill>
          <a:ln/>
        </p:spPr>
      </p:sp>
      <p:sp>
        <p:nvSpPr>
          <p:cNvPr id="35" name="Shape 33"/>
          <p:cNvSpPr/>
          <p:nvPr/>
        </p:nvSpPr>
        <p:spPr>
          <a:xfrm>
            <a:off x="10965769" y="3626789"/>
            <a:ext cx="40940" cy="40940"/>
          </a:xfrm>
          <a:prstGeom prst="ellipse">
            <a:avLst/>
          </a:prstGeom>
          <a:solidFill>
            <a:srgbClr val="E8E2CF"/>
          </a:solidFill>
          <a:ln/>
        </p:spPr>
      </p:sp>
      <p:sp>
        <p:nvSpPr>
          <p:cNvPr id="36" name="Shape 34"/>
          <p:cNvSpPr/>
          <p:nvPr/>
        </p:nvSpPr>
        <p:spPr>
          <a:xfrm>
            <a:off x="9262501" y="895243"/>
            <a:ext cx="30304" cy="30304"/>
          </a:xfrm>
          <a:prstGeom prst="ellipse">
            <a:avLst/>
          </a:prstGeom>
          <a:solidFill>
            <a:srgbClr val="4DF0FF"/>
          </a:solidFill>
          <a:ln/>
        </p:spPr>
      </p:sp>
      <p:sp>
        <p:nvSpPr>
          <p:cNvPr id="37" name="Shape 35"/>
          <p:cNvSpPr/>
          <p:nvPr/>
        </p:nvSpPr>
        <p:spPr>
          <a:xfrm>
            <a:off x="2175784" y="634497"/>
            <a:ext cx="45609" cy="45609"/>
          </a:xfrm>
          <a:prstGeom prst="ellipse">
            <a:avLst/>
          </a:prstGeom>
          <a:solidFill>
            <a:srgbClr val="4DF0FF"/>
          </a:solidFill>
          <a:ln/>
        </p:spPr>
      </p:sp>
      <p:sp>
        <p:nvSpPr>
          <p:cNvPr id="38" name="Shape 36"/>
          <p:cNvSpPr/>
          <p:nvPr/>
        </p:nvSpPr>
        <p:spPr>
          <a:xfrm>
            <a:off x="4547931" y="405864"/>
            <a:ext cx="33820" cy="33820"/>
          </a:xfrm>
          <a:prstGeom prst="ellipse">
            <a:avLst/>
          </a:prstGeom>
          <a:solidFill>
            <a:srgbClr val="E8E2CF"/>
          </a:solidFill>
          <a:ln/>
        </p:spPr>
      </p:sp>
      <p:sp>
        <p:nvSpPr>
          <p:cNvPr id="39" name="Shape 37"/>
          <p:cNvSpPr/>
          <p:nvPr/>
        </p:nvSpPr>
        <p:spPr>
          <a:xfrm>
            <a:off x="8354322" y="5249175"/>
            <a:ext cx="54527" cy="54527"/>
          </a:xfrm>
          <a:prstGeom prst="ellipse">
            <a:avLst/>
          </a:prstGeom>
          <a:solidFill>
            <a:srgbClr val="E8E2CF"/>
          </a:solidFill>
          <a:ln/>
        </p:spPr>
      </p:sp>
      <p:sp>
        <p:nvSpPr>
          <p:cNvPr id="40" name="Shape 38"/>
          <p:cNvSpPr/>
          <p:nvPr/>
        </p:nvSpPr>
        <p:spPr>
          <a:xfrm>
            <a:off x="11879505" y="2804114"/>
            <a:ext cx="51195" cy="51195"/>
          </a:xfrm>
          <a:prstGeom prst="ellipse">
            <a:avLst/>
          </a:prstGeom>
          <a:solidFill>
            <a:srgbClr val="4DF0FF"/>
          </a:solidFill>
          <a:ln/>
        </p:spPr>
      </p:sp>
      <p:sp>
        <p:nvSpPr>
          <p:cNvPr id="41" name="Shape 39"/>
          <p:cNvSpPr/>
          <p:nvPr/>
        </p:nvSpPr>
        <p:spPr>
          <a:xfrm>
            <a:off x="621400" y="1248877"/>
            <a:ext cx="54470" cy="54470"/>
          </a:xfrm>
          <a:prstGeom prst="ellipse">
            <a:avLst/>
          </a:prstGeom>
          <a:solidFill>
            <a:srgbClr val="E8E2CF"/>
          </a:solidFill>
          <a:ln/>
        </p:spPr>
      </p:sp>
      <p:sp>
        <p:nvSpPr>
          <p:cNvPr id="42" name="Shape 40"/>
          <p:cNvSpPr/>
          <p:nvPr/>
        </p:nvSpPr>
        <p:spPr>
          <a:xfrm>
            <a:off x="8614372" y="2427332"/>
            <a:ext cx="50097" cy="50097"/>
          </a:xfrm>
          <a:prstGeom prst="ellipse">
            <a:avLst/>
          </a:prstGeom>
          <a:solidFill>
            <a:srgbClr val="E8E2CF"/>
          </a:solidFill>
          <a:ln/>
        </p:spPr>
      </p:sp>
      <p:sp>
        <p:nvSpPr>
          <p:cNvPr id="43" name="Shape 41"/>
          <p:cNvSpPr/>
          <p:nvPr/>
        </p:nvSpPr>
        <p:spPr>
          <a:xfrm>
            <a:off x="476164" y="908333"/>
            <a:ext cx="46137" cy="46137"/>
          </a:xfrm>
          <a:prstGeom prst="ellipse">
            <a:avLst/>
          </a:prstGeom>
          <a:solidFill>
            <a:srgbClr val="E8E2CF"/>
          </a:solidFill>
          <a:ln/>
        </p:spPr>
      </p:sp>
      <p:sp>
        <p:nvSpPr>
          <p:cNvPr id="44" name="Shape 42"/>
          <p:cNvSpPr/>
          <p:nvPr/>
        </p:nvSpPr>
        <p:spPr>
          <a:xfrm>
            <a:off x="9331654" y="4423500"/>
            <a:ext cx="46403" cy="46403"/>
          </a:xfrm>
          <a:prstGeom prst="ellipse">
            <a:avLst/>
          </a:prstGeom>
          <a:solidFill>
            <a:srgbClr val="E8E2CF"/>
          </a:solidFill>
          <a:ln/>
        </p:spPr>
      </p:sp>
      <p:sp>
        <p:nvSpPr>
          <p:cNvPr id="45" name="Shape 43"/>
          <p:cNvSpPr/>
          <p:nvPr/>
        </p:nvSpPr>
        <p:spPr>
          <a:xfrm>
            <a:off x="289663" y="4854613"/>
            <a:ext cx="52438" cy="52438"/>
          </a:xfrm>
          <a:prstGeom prst="ellipse">
            <a:avLst/>
          </a:prstGeom>
          <a:solidFill>
            <a:srgbClr val="E8E2CF"/>
          </a:solidFill>
          <a:ln/>
        </p:spPr>
      </p:sp>
      <p:sp>
        <p:nvSpPr>
          <p:cNvPr id="46" name="Shape 44"/>
          <p:cNvSpPr/>
          <p:nvPr/>
        </p:nvSpPr>
        <p:spPr>
          <a:xfrm>
            <a:off x="398501" y="6027038"/>
            <a:ext cx="52455" cy="52455"/>
          </a:xfrm>
          <a:prstGeom prst="ellipse">
            <a:avLst/>
          </a:prstGeom>
          <a:solidFill>
            <a:srgbClr val="E8E2CF"/>
          </a:solidFill>
          <a:ln/>
        </p:spPr>
      </p:sp>
      <p:sp>
        <p:nvSpPr>
          <p:cNvPr id="47" name="Shape 45"/>
          <p:cNvSpPr/>
          <p:nvPr/>
        </p:nvSpPr>
        <p:spPr>
          <a:xfrm>
            <a:off x="10228861" y="5533411"/>
            <a:ext cx="29637" cy="29637"/>
          </a:xfrm>
          <a:prstGeom prst="ellipse">
            <a:avLst/>
          </a:prstGeom>
          <a:solidFill>
            <a:srgbClr val="E8E2CF"/>
          </a:solidFill>
          <a:ln/>
        </p:spPr>
      </p:sp>
      <p:sp>
        <p:nvSpPr>
          <p:cNvPr id="48" name="Shape 46"/>
          <p:cNvSpPr/>
          <p:nvPr/>
        </p:nvSpPr>
        <p:spPr>
          <a:xfrm>
            <a:off x="10316230" y="511684"/>
            <a:ext cx="21394" cy="21394"/>
          </a:xfrm>
          <a:prstGeom prst="ellipse">
            <a:avLst/>
          </a:prstGeom>
          <a:solidFill>
            <a:srgbClr val="E8E2CF"/>
          </a:solidFill>
          <a:ln/>
        </p:spPr>
      </p:sp>
      <p:sp>
        <p:nvSpPr>
          <p:cNvPr id="49" name="Shape 47"/>
          <p:cNvSpPr/>
          <p:nvPr/>
        </p:nvSpPr>
        <p:spPr>
          <a:xfrm>
            <a:off x="9888079" y="3149114"/>
            <a:ext cx="26662" cy="26662"/>
          </a:xfrm>
          <a:prstGeom prst="ellipse">
            <a:avLst/>
          </a:prstGeom>
          <a:solidFill>
            <a:srgbClr val="FFE81F"/>
          </a:solidFill>
          <a:ln/>
        </p:spPr>
      </p:sp>
      <p:sp>
        <p:nvSpPr>
          <p:cNvPr id="50" name="Shape 48"/>
          <p:cNvSpPr/>
          <p:nvPr/>
        </p:nvSpPr>
        <p:spPr>
          <a:xfrm>
            <a:off x="8338608" y="6605383"/>
            <a:ext cx="30883" cy="30883"/>
          </a:xfrm>
          <a:prstGeom prst="ellipse">
            <a:avLst/>
          </a:prstGeom>
          <a:solidFill>
            <a:srgbClr val="E8E2CF"/>
          </a:solidFill>
          <a:ln/>
        </p:spPr>
      </p:sp>
      <p:sp>
        <p:nvSpPr>
          <p:cNvPr id="51" name="Shape 49"/>
          <p:cNvSpPr/>
          <p:nvPr/>
        </p:nvSpPr>
        <p:spPr>
          <a:xfrm>
            <a:off x="7211414" y="4899815"/>
            <a:ext cx="53853" cy="53853"/>
          </a:xfrm>
          <a:prstGeom prst="ellipse">
            <a:avLst/>
          </a:prstGeom>
          <a:solidFill>
            <a:srgbClr val="FFE81F"/>
          </a:solidFill>
          <a:ln/>
        </p:spPr>
      </p:sp>
      <p:sp>
        <p:nvSpPr>
          <p:cNvPr id="52" name="Shape 50"/>
          <p:cNvSpPr/>
          <p:nvPr/>
        </p:nvSpPr>
        <p:spPr>
          <a:xfrm>
            <a:off x="8408736" y="2557973"/>
            <a:ext cx="52180" cy="52180"/>
          </a:xfrm>
          <a:prstGeom prst="ellipse">
            <a:avLst/>
          </a:prstGeom>
          <a:solidFill>
            <a:srgbClr val="FFE81F"/>
          </a:solidFill>
          <a:ln/>
        </p:spPr>
      </p:sp>
      <p:sp>
        <p:nvSpPr>
          <p:cNvPr id="53" name="Shape 51"/>
          <p:cNvSpPr/>
          <p:nvPr/>
        </p:nvSpPr>
        <p:spPr>
          <a:xfrm>
            <a:off x="4369607" y="4827882"/>
            <a:ext cx="17112" cy="17112"/>
          </a:xfrm>
          <a:prstGeom prst="ellipse">
            <a:avLst/>
          </a:prstGeom>
          <a:solidFill>
            <a:srgbClr val="E8E2CF"/>
          </a:solidFill>
          <a:ln/>
        </p:spPr>
      </p:sp>
      <p:sp>
        <p:nvSpPr>
          <p:cNvPr id="54" name="Shape 52"/>
          <p:cNvSpPr/>
          <p:nvPr/>
        </p:nvSpPr>
        <p:spPr>
          <a:xfrm>
            <a:off x="763638" y="6710153"/>
            <a:ext cx="44348" cy="44348"/>
          </a:xfrm>
          <a:prstGeom prst="ellipse">
            <a:avLst/>
          </a:prstGeom>
          <a:solidFill>
            <a:srgbClr val="FFE81F"/>
          </a:solidFill>
          <a:ln/>
        </p:spPr>
      </p:sp>
      <p:sp>
        <p:nvSpPr>
          <p:cNvPr id="55" name="Shape 53"/>
          <p:cNvSpPr/>
          <p:nvPr/>
        </p:nvSpPr>
        <p:spPr>
          <a:xfrm>
            <a:off x="11094255" y="1787137"/>
            <a:ext cx="34874" cy="34874"/>
          </a:xfrm>
          <a:prstGeom prst="ellipse">
            <a:avLst/>
          </a:prstGeom>
          <a:solidFill>
            <a:srgbClr val="E8E2CF"/>
          </a:solidFill>
          <a:ln/>
        </p:spPr>
      </p:sp>
      <p:sp>
        <p:nvSpPr>
          <p:cNvPr id="56" name="Shape 54"/>
          <p:cNvSpPr/>
          <p:nvPr/>
        </p:nvSpPr>
        <p:spPr>
          <a:xfrm>
            <a:off x="288091" y="1182120"/>
            <a:ext cx="37066" cy="37066"/>
          </a:xfrm>
          <a:prstGeom prst="ellipse">
            <a:avLst/>
          </a:prstGeom>
          <a:solidFill>
            <a:srgbClr val="FFE81F"/>
          </a:solidFill>
          <a:ln/>
        </p:spPr>
      </p:sp>
      <p:sp>
        <p:nvSpPr>
          <p:cNvPr id="57" name="Shape 55"/>
          <p:cNvSpPr/>
          <p:nvPr/>
        </p:nvSpPr>
        <p:spPr>
          <a:xfrm>
            <a:off x="10185461" y="3805793"/>
            <a:ext cx="44190" cy="44190"/>
          </a:xfrm>
          <a:prstGeom prst="ellipse">
            <a:avLst/>
          </a:prstGeom>
          <a:solidFill>
            <a:srgbClr val="FFE81F"/>
          </a:solidFill>
          <a:ln/>
        </p:spPr>
      </p:sp>
      <p:sp>
        <p:nvSpPr>
          <p:cNvPr id="58" name="Shape 56"/>
          <p:cNvSpPr/>
          <p:nvPr/>
        </p:nvSpPr>
        <p:spPr>
          <a:xfrm>
            <a:off x="2650452" y="963533"/>
            <a:ext cx="18279" cy="18279"/>
          </a:xfrm>
          <a:prstGeom prst="ellipse">
            <a:avLst/>
          </a:prstGeom>
          <a:solidFill>
            <a:srgbClr val="FFE81F"/>
          </a:solidFill>
          <a:ln/>
        </p:spPr>
      </p:sp>
      <p:sp>
        <p:nvSpPr>
          <p:cNvPr id="59" name="Shape 57"/>
          <p:cNvSpPr/>
          <p:nvPr/>
        </p:nvSpPr>
        <p:spPr>
          <a:xfrm>
            <a:off x="1489968" y="98433"/>
            <a:ext cx="32244" cy="32244"/>
          </a:xfrm>
          <a:prstGeom prst="ellipse">
            <a:avLst/>
          </a:prstGeom>
          <a:solidFill>
            <a:srgbClr val="E8E2CF"/>
          </a:solidFill>
          <a:ln/>
        </p:spPr>
      </p:sp>
      <p:sp>
        <p:nvSpPr>
          <p:cNvPr id="60" name="Shape 58"/>
          <p:cNvSpPr/>
          <p:nvPr/>
        </p:nvSpPr>
        <p:spPr>
          <a:xfrm>
            <a:off x="8742497" y="6719612"/>
            <a:ext cx="16463" cy="16463"/>
          </a:xfrm>
          <a:prstGeom prst="ellipse">
            <a:avLst/>
          </a:prstGeom>
          <a:solidFill>
            <a:srgbClr val="E8E2CF"/>
          </a:solidFill>
          <a:ln/>
        </p:spPr>
      </p:sp>
      <p:sp>
        <p:nvSpPr>
          <p:cNvPr id="61" name="Shape 59"/>
          <p:cNvSpPr/>
          <p:nvPr/>
        </p:nvSpPr>
        <p:spPr>
          <a:xfrm>
            <a:off x="9756331" y="5024454"/>
            <a:ext cx="28043" cy="28043"/>
          </a:xfrm>
          <a:prstGeom prst="ellipse">
            <a:avLst/>
          </a:prstGeom>
          <a:solidFill>
            <a:srgbClr val="4DF0FF"/>
          </a:solidFill>
          <a:ln/>
        </p:spPr>
      </p:sp>
      <p:sp>
        <p:nvSpPr>
          <p:cNvPr id="62" name="Shape 60"/>
          <p:cNvSpPr/>
          <p:nvPr/>
        </p:nvSpPr>
        <p:spPr>
          <a:xfrm>
            <a:off x="1983443" y="5613759"/>
            <a:ext cx="24559" cy="24559"/>
          </a:xfrm>
          <a:prstGeom prst="ellipse">
            <a:avLst/>
          </a:prstGeom>
          <a:solidFill>
            <a:srgbClr val="4DF0FF"/>
          </a:solidFill>
          <a:ln/>
        </p:spPr>
      </p:sp>
      <p:sp>
        <p:nvSpPr>
          <p:cNvPr id="63" name="Shape 61"/>
          <p:cNvSpPr/>
          <p:nvPr/>
        </p:nvSpPr>
        <p:spPr>
          <a:xfrm>
            <a:off x="8620894" y="4783438"/>
            <a:ext cx="28024" cy="28024"/>
          </a:xfrm>
          <a:prstGeom prst="ellipse">
            <a:avLst/>
          </a:prstGeom>
          <a:solidFill>
            <a:srgbClr val="E8E2CF"/>
          </a:solidFill>
          <a:ln/>
        </p:spPr>
      </p:sp>
      <p:sp>
        <p:nvSpPr>
          <p:cNvPr id="64" name="Shape 62"/>
          <p:cNvSpPr/>
          <p:nvPr/>
        </p:nvSpPr>
        <p:spPr>
          <a:xfrm>
            <a:off x="6828961" y="564349"/>
            <a:ext cx="31194" cy="31194"/>
          </a:xfrm>
          <a:prstGeom prst="ellipse">
            <a:avLst/>
          </a:prstGeom>
          <a:solidFill>
            <a:srgbClr val="E8E2CF"/>
          </a:solidFill>
          <a:ln/>
        </p:spPr>
      </p:sp>
      <p:sp>
        <p:nvSpPr>
          <p:cNvPr id="65" name="Shape 63"/>
          <p:cNvSpPr/>
          <p:nvPr/>
        </p:nvSpPr>
        <p:spPr>
          <a:xfrm>
            <a:off x="9454865" y="1322101"/>
            <a:ext cx="21040" cy="21040"/>
          </a:xfrm>
          <a:prstGeom prst="ellipse">
            <a:avLst/>
          </a:prstGeom>
          <a:solidFill>
            <a:srgbClr val="FFE81F"/>
          </a:solidFill>
          <a:ln/>
        </p:spPr>
      </p:sp>
      <p:sp>
        <p:nvSpPr>
          <p:cNvPr id="66" name="Shape 64"/>
          <p:cNvSpPr/>
          <p:nvPr/>
        </p:nvSpPr>
        <p:spPr>
          <a:xfrm>
            <a:off x="10265929" y="6148210"/>
            <a:ext cx="47987" cy="47987"/>
          </a:xfrm>
          <a:prstGeom prst="ellipse">
            <a:avLst/>
          </a:prstGeom>
          <a:solidFill>
            <a:srgbClr val="E8E2CF"/>
          </a:solidFill>
          <a:ln/>
        </p:spPr>
      </p:sp>
      <p:sp>
        <p:nvSpPr>
          <p:cNvPr id="67" name="Shape 65"/>
          <p:cNvSpPr/>
          <p:nvPr/>
        </p:nvSpPr>
        <p:spPr>
          <a:xfrm>
            <a:off x="7079807" y="6382541"/>
            <a:ext cx="25497" cy="25497"/>
          </a:xfrm>
          <a:prstGeom prst="ellipse">
            <a:avLst/>
          </a:prstGeom>
          <a:solidFill>
            <a:srgbClr val="E8E2CF"/>
          </a:solidFill>
          <a:ln/>
        </p:spPr>
      </p:sp>
      <p:sp>
        <p:nvSpPr>
          <p:cNvPr id="68" name="Shape 66"/>
          <p:cNvSpPr/>
          <p:nvPr/>
        </p:nvSpPr>
        <p:spPr>
          <a:xfrm>
            <a:off x="11293621" y="6331181"/>
            <a:ext cx="17775" cy="17775"/>
          </a:xfrm>
          <a:prstGeom prst="ellipse">
            <a:avLst/>
          </a:prstGeom>
          <a:solidFill>
            <a:srgbClr val="E8E2CF"/>
          </a:solidFill>
          <a:ln/>
        </p:spPr>
      </p:sp>
      <p:sp>
        <p:nvSpPr>
          <p:cNvPr id="69" name="Shape 67"/>
          <p:cNvSpPr/>
          <p:nvPr/>
        </p:nvSpPr>
        <p:spPr>
          <a:xfrm>
            <a:off x="8278942" y="2828203"/>
            <a:ext cx="28889" cy="28889"/>
          </a:xfrm>
          <a:prstGeom prst="ellipse">
            <a:avLst/>
          </a:prstGeom>
          <a:solidFill>
            <a:srgbClr val="E8E2CF"/>
          </a:solidFill>
          <a:ln/>
        </p:spPr>
      </p:sp>
      <p:sp>
        <p:nvSpPr>
          <p:cNvPr id="70" name="Shape 68"/>
          <p:cNvSpPr/>
          <p:nvPr/>
        </p:nvSpPr>
        <p:spPr>
          <a:xfrm>
            <a:off x="10079543" y="6686855"/>
            <a:ext cx="41015" cy="41015"/>
          </a:xfrm>
          <a:prstGeom prst="ellipse">
            <a:avLst/>
          </a:prstGeom>
          <a:solidFill>
            <a:srgbClr val="FFE81F"/>
          </a:solidFill>
          <a:ln/>
        </p:spPr>
      </p:sp>
      <p:sp>
        <p:nvSpPr>
          <p:cNvPr id="71" name="Shape 69"/>
          <p:cNvSpPr/>
          <p:nvPr/>
        </p:nvSpPr>
        <p:spPr>
          <a:xfrm>
            <a:off x="293050" y="1893027"/>
            <a:ext cx="19364" cy="19364"/>
          </a:xfrm>
          <a:prstGeom prst="ellipse">
            <a:avLst/>
          </a:prstGeom>
          <a:solidFill>
            <a:srgbClr val="E8E2CF"/>
          </a:solidFill>
          <a:ln/>
        </p:spPr>
      </p:sp>
      <p:sp>
        <p:nvSpPr>
          <p:cNvPr id="72" name="Shape 70"/>
          <p:cNvSpPr/>
          <p:nvPr/>
        </p:nvSpPr>
        <p:spPr>
          <a:xfrm>
            <a:off x="165492" y="6703681"/>
            <a:ext cx="31922" cy="31922"/>
          </a:xfrm>
          <a:prstGeom prst="ellipse">
            <a:avLst/>
          </a:prstGeom>
          <a:solidFill>
            <a:srgbClr val="E8E2CF"/>
          </a:solidFill>
          <a:ln/>
        </p:spPr>
      </p:sp>
      <p:sp>
        <p:nvSpPr>
          <p:cNvPr id="73" name="Shape 71"/>
          <p:cNvSpPr/>
          <p:nvPr/>
        </p:nvSpPr>
        <p:spPr>
          <a:xfrm>
            <a:off x="10215757" y="6455611"/>
            <a:ext cx="30971" cy="30971"/>
          </a:xfrm>
          <a:prstGeom prst="ellipse">
            <a:avLst/>
          </a:prstGeom>
          <a:solidFill>
            <a:srgbClr val="E8E2CF"/>
          </a:solidFill>
          <a:ln/>
        </p:spPr>
      </p:sp>
      <p:sp>
        <p:nvSpPr>
          <p:cNvPr id="74" name="Shape 72"/>
          <p:cNvSpPr/>
          <p:nvPr/>
        </p:nvSpPr>
        <p:spPr>
          <a:xfrm>
            <a:off x="6201644" y="6455852"/>
            <a:ext cx="50418" cy="50418"/>
          </a:xfrm>
          <a:prstGeom prst="ellipse">
            <a:avLst/>
          </a:prstGeom>
          <a:solidFill>
            <a:srgbClr val="4DF0FF"/>
          </a:solidFill>
          <a:ln/>
        </p:spPr>
      </p:sp>
      <p:sp>
        <p:nvSpPr>
          <p:cNvPr id="75" name="Shape 73"/>
          <p:cNvSpPr/>
          <p:nvPr/>
        </p:nvSpPr>
        <p:spPr>
          <a:xfrm>
            <a:off x="1327098" y="191378"/>
            <a:ext cx="52703" cy="52703"/>
          </a:xfrm>
          <a:prstGeom prst="ellipse">
            <a:avLst/>
          </a:prstGeom>
          <a:solidFill>
            <a:srgbClr val="E8E2CF"/>
          </a:solidFill>
          <a:ln/>
        </p:spPr>
      </p:sp>
      <p:sp>
        <p:nvSpPr>
          <p:cNvPr id="76" name="Shape 74"/>
          <p:cNvSpPr/>
          <p:nvPr/>
        </p:nvSpPr>
        <p:spPr>
          <a:xfrm>
            <a:off x="11529961" y="3581546"/>
            <a:ext cx="51967" cy="51967"/>
          </a:xfrm>
          <a:prstGeom prst="ellipse">
            <a:avLst/>
          </a:prstGeom>
          <a:solidFill>
            <a:srgbClr val="E8E2CF"/>
          </a:solidFill>
          <a:ln/>
        </p:spPr>
      </p:sp>
      <p:sp>
        <p:nvSpPr>
          <p:cNvPr id="77" name="Shape 75"/>
          <p:cNvSpPr/>
          <p:nvPr/>
        </p:nvSpPr>
        <p:spPr>
          <a:xfrm>
            <a:off x="17831" y="6676776"/>
            <a:ext cx="18772" cy="18772"/>
          </a:xfrm>
          <a:prstGeom prst="ellipse">
            <a:avLst/>
          </a:prstGeom>
          <a:solidFill>
            <a:srgbClr val="E8E2CF"/>
          </a:solidFill>
          <a:ln/>
        </p:spPr>
      </p:sp>
      <p:sp>
        <p:nvSpPr>
          <p:cNvPr id="78" name="Shape 76"/>
          <p:cNvSpPr/>
          <p:nvPr/>
        </p:nvSpPr>
        <p:spPr>
          <a:xfrm>
            <a:off x="8268555" y="5427358"/>
            <a:ext cx="24455" cy="24455"/>
          </a:xfrm>
          <a:prstGeom prst="ellipse">
            <a:avLst/>
          </a:prstGeom>
          <a:solidFill>
            <a:srgbClr val="4DF0FF"/>
          </a:solidFill>
          <a:ln/>
        </p:spPr>
      </p:sp>
      <p:sp>
        <p:nvSpPr>
          <p:cNvPr id="79" name="Shape 77"/>
          <p:cNvSpPr/>
          <p:nvPr/>
        </p:nvSpPr>
        <p:spPr>
          <a:xfrm>
            <a:off x="3196123" y="995612"/>
            <a:ext cx="22400" cy="22400"/>
          </a:xfrm>
          <a:prstGeom prst="ellipse">
            <a:avLst/>
          </a:prstGeom>
          <a:solidFill>
            <a:srgbClr val="FFE81F"/>
          </a:solidFill>
          <a:ln/>
        </p:spPr>
      </p:sp>
      <p:sp>
        <p:nvSpPr>
          <p:cNvPr id="80" name="Shape 78"/>
          <p:cNvSpPr/>
          <p:nvPr/>
        </p:nvSpPr>
        <p:spPr>
          <a:xfrm>
            <a:off x="535601" y="851646"/>
            <a:ext cx="46786" cy="46786"/>
          </a:xfrm>
          <a:prstGeom prst="ellipse">
            <a:avLst/>
          </a:prstGeom>
          <a:solidFill>
            <a:srgbClr val="E8E2CF"/>
          </a:solidFill>
          <a:ln/>
        </p:spPr>
      </p:sp>
      <p:sp>
        <p:nvSpPr>
          <p:cNvPr id="81" name="Shape 79"/>
          <p:cNvSpPr/>
          <p:nvPr/>
        </p:nvSpPr>
        <p:spPr>
          <a:xfrm>
            <a:off x="8288476" y="4203052"/>
            <a:ext cx="28842" cy="28842"/>
          </a:xfrm>
          <a:prstGeom prst="ellipse">
            <a:avLst/>
          </a:prstGeom>
          <a:solidFill>
            <a:srgbClr val="4DF0FF"/>
          </a:solidFill>
          <a:ln/>
        </p:spPr>
      </p:sp>
      <p:sp>
        <p:nvSpPr>
          <p:cNvPr id="82" name="Shape 80"/>
          <p:cNvSpPr/>
          <p:nvPr/>
        </p:nvSpPr>
        <p:spPr>
          <a:xfrm>
            <a:off x="7818120" y="1051560"/>
            <a:ext cx="3931920" cy="3931920"/>
          </a:xfrm>
          <a:prstGeom prst="ellipse">
            <a:avLst/>
          </a:prstGeom>
          <a:ln w="15875">
            <a:solidFill>
              <a:srgbClr val="3C392C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8641080" y="1874520"/>
            <a:ext cx="2286000" cy="2286000"/>
          </a:xfrm>
          <a:prstGeom prst="ellipse">
            <a:avLst/>
          </a:prstGeom>
          <a:ln w="12700">
            <a:solidFill>
              <a:srgbClr val="4A4636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9619488" y="2852928"/>
            <a:ext cx="329184" cy="329184"/>
          </a:xfrm>
          <a:prstGeom prst="ellipse">
            <a:avLst/>
          </a:prstGeom>
          <a:solidFill>
            <a:srgbClr val="FFE81F"/>
          </a:solidFill>
          <a:ln/>
        </p:spPr>
      </p:sp>
      <p:sp>
        <p:nvSpPr>
          <p:cNvPr id="85" name="Shape 83"/>
          <p:cNvSpPr/>
          <p:nvPr/>
        </p:nvSpPr>
        <p:spPr>
          <a:xfrm>
            <a:off x="11548872" y="2862072"/>
            <a:ext cx="155448" cy="155448"/>
          </a:xfrm>
          <a:prstGeom prst="ellipse">
            <a:avLst/>
          </a:prstGeom>
          <a:solidFill>
            <a:srgbClr val="4DF0FF"/>
          </a:solidFill>
          <a:ln/>
        </p:spPr>
      </p:sp>
      <p:sp>
        <p:nvSpPr>
          <p:cNvPr id="86" name="Text 84"/>
          <p:cNvSpPr txBox="1"/>
          <p:nvPr/>
        </p:nvSpPr>
        <p:spPr>
          <a:xfrm>
            <a:off x="640080" y="658368"/>
            <a:ext cx="109115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20" kern="0" dirty="0">
                <a:solidFill>
                  <a:srgbClr val="4D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STAR WARS WIKI  //  PROJECT BRIEF  //  2026</a:t>
            </a:r>
            <a:endParaRPr lang="en-US" sz="1050" dirty="0"/>
          </a:p>
        </p:txBody>
      </p:sp>
      <p:sp>
        <p:nvSpPr>
          <p:cNvPr id="87" name="Text 85"/>
          <p:cNvSpPr txBox="1"/>
          <p:nvPr/>
        </p:nvSpPr>
        <p:spPr>
          <a:xfrm>
            <a:off x="640080" y="1572768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spc="500" kern="0" dirty="0">
                <a:solidFill>
                  <a:srgbClr val="FFE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STAR WARS</a:t>
            </a:r>
            <a:endParaRPr lang="en-US" sz="5400" dirty="0"/>
          </a:p>
        </p:txBody>
      </p:sp>
      <p:sp>
        <p:nvSpPr>
          <p:cNvPr id="88" name="Text 86"/>
          <p:cNvSpPr txBox="1"/>
          <p:nvPr/>
        </p:nvSpPr>
        <p:spPr>
          <a:xfrm>
            <a:off x="640080" y="2450592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spc="500" kern="0" dirty="0">
                <a:solidFill>
                  <a:srgbClr val="E8E2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EXPLORER</a:t>
            </a:r>
            <a:endParaRPr lang="en-US" sz="5400" dirty="0"/>
          </a:p>
        </p:txBody>
      </p:sp>
      <p:sp>
        <p:nvSpPr>
          <p:cNvPr id="89" name="Text 87"/>
          <p:cNvSpPr txBox="1"/>
          <p:nvPr/>
        </p:nvSpPr>
        <p:spPr>
          <a:xfrm>
            <a:off x="640080" y="3611880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969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A full-stack catalog of the Star Wars universe: one mobile app, one API,</a:t>
            </a:r>
            <a:endParaRPr lang="en-US" sz="15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969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and two very different data sources taught to agree with each other.</a:t>
            </a:r>
            <a:endParaRPr lang="en-US" sz="1500" dirty="0"/>
          </a:p>
        </p:txBody>
      </p:sp>
      <p:sp>
        <p:nvSpPr>
          <p:cNvPr id="90" name="Text 88"/>
          <p:cNvSpPr txBox="1"/>
          <p:nvPr/>
        </p:nvSpPr>
        <p:spPr>
          <a:xfrm>
            <a:off x="640080" y="589788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60" kern="0" dirty="0">
                <a:solidFill>
                  <a:srgbClr val="4D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TYPESCRIPT      FASTIFY      REACT NATIVE      EXPO      MONOREPO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3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20" kern="0" dirty="0">
                <a:solidFill>
                  <a:srgbClr val="4D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01  //  OVERVIEW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spc="60" kern="0" dirty="0">
                <a:solidFill>
                  <a:srgbClr val="E8E2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What we built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69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In plain terms, before any of the technical detail.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084832"/>
            <a:ext cx="566928" cy="566928"/>
          </a:xfrm>
          <a:prstGeom prst="ellipse">
            <a:avLst/>
          </a:prstGeom>
          <a:solidFill>
            <a:srgbClr val="FFE81F"/>
          </a:solidFill>
          <a:ln/>
        </p:spPr>
      </p:sp>
      <p:pic>
        <p:nvPicPr>
          <p:cNvPr id="6" name="Image 0" descr="/private/tmp/claude-501/-Users-eliseogomez-Documents-SWAPP-StarWarsWikiApp-StarWarsWiki/6ca98190-2482-4349-b17c-5c014630cb6d/scratchpad/icons/layers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" y="2226564"/>
            <a:ext cx="283464" cy="28346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81328" y="202996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50" b="1" dirty="0">
                <a:solidFill>
                  <a:srgbClr val="E8E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One app, five archives</a:t>
            </a:r>
            <a:endParaRPr lang="en-US" sz="1550" dirty="0"/>
          </a:p>
        </p:txBody>
      </p:sp>
      <p:sp>
        <p:nvSpPr>
          <p:cNvPr id="8" name="Text 5"/>
          <p:cNvSpPr txBox="1"/>
          <p:nvPr/>
        </p:nvSpPr>
        <p:spPr>
          <a:xfrm>
            <a:off x="1481328" y="2377440"/>
            <a:ext cx="5212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969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Characters, films, starships, vehicles and planets — each with a browsable</a:t>
            </a:r>
            <a:endParaRPr lang="en-US" sz="12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969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list and a full detail screen, in a single mobile app.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566928" cy="566928"/>
          </a:xfrm>
          <a:prstGeom prst="ellipse">
            <a:avLst/>
          </a:prstGeom>
          <a:solidFill>
            <a:srgbClr val="FFE81F"/>
          </a:solidFill>
          <a:ln/>
        </p:spPr>
      </p:sp>
      <p:pic>
        <p:nvPicPr>
          <p:cNvPr id="10" name="Image 1" descr="/private/tmp/claude-501/-Users-eliseogomez-Documents-SWAPP-StarWarsWikiApp-StarWarsWiki/6ca98190-2482-4349-b17c-5c014630cb6d/scratchpad/icons/puzzle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" y="3525012"/>
            <a:ext cx="283464" cy="28346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81328" y="3328416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50" b="1" dirty="0">
                <a:solidFill>
                  <a:srgbClr val="E8E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Two sources, stitched together</a:t>
            </a:r>
            <a:endParaRPr lang="en-US" sz="1550" dirty="0"/>
          </a:p>
        </p:txBody>
      </p:sp>
      <p:sp>
        <p:nvSpPr>
          <p:cNvPr id="12" name="Text 8"/>
          <p:cNvSpPr txBox="1"/>
          <p:nvPr/>
        </p:nvSpPr>
        <p:spPr>
          <a:xfrm>
            <a:off x="1481328" y="3675888"/>
            <a:ext cx="5212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969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Official StarWars.com artwork and lore, joined automatically to SWAPI's</a:t>
            </a:r>
            <a:endParaRPr lang="en-US" sz="12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969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technical stats. Neither source has both halves on its own.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40080" y="4681728"/>
            <a:ext cx="566928" cy="566928"/>
          </a:xfrm>
          <a:prstGeom prst="ellipse">
            <a:avLst/>
          </a:prstGeom>
          <a:solidFill>
            <a:srgbClr val="FFE81F"/>
          </a:solidFill>
          <a:ln/>
        </p:spPr>
      </p:sp>
      <p:pic>
        <p:nvPicPr>
          <p:cNvPr id="14" name="Image 2" descr="/private/tmp/claude-501/-Users-eliseogomez-Documents-SWAPP-StarWarsWikiApp-StarWarsWiki/6ca98190-2482-4349-b17c-5c014630cb6d/scratchpad/icons/bolt-d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" y="4823460"/>
            <a:ext cx="283464" cy="28346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481328" y="4626864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50" b="1" dirty="0">
                <a:solidFill>
                  <a:srgbClr val="E8E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Fast, and light on infrastructure</a:t>
            </a:r>
            <a:endParaRPr lang="en-US" sz="1550" dirty="0"/>
          </a:p>
        </p:txBody>
      </p:sp>
      <p:sp>
        <p:nvSpPr>
          <p:cNvPr id="16" name="Text 11"/>
          <p:cNvSpPr txBox="1"/>
          <p:nvPr/>
        </p:nvSpPr>
        <p:spPr>
          <a:xfrm>
            <a:off x="1481328" y="4974336"/>
            <a:ext cx="5212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969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Results are cached on the device, and the server needs no database —</a:t>
            </a:r>
            <a:endParaRPr lang="en-US" sz="12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969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so the whole thing runs from a single process.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7882128" y="1810512"/>
            <a:ext cx="2788920" cy="4160520"/>
          </a:xfrm>
          <a:prstGeom prst="roundRect">
            <a:avLst>
              <a:gd name="adj" fmla="val 7213"/>
            </a:avLst>
          </a:prstGeom>
          <a:solidFill>
            <a:srgbClr val="1E1C10"/>
          </a:solidFill>
          <a:ln w="19050">
            <a:solidFill>
              <a:srgbClr val="3C392C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8101584" y="204825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60" kern="0" dirty="0">
                <a:solidFill>
                  <a:srgbClr val="4D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ARCHIVE &gt; REGISTRY</a:t>
            </a:r>
            <a:endParaRPr lang="en-US" sz="750" dirty="0"/>
          </a:p>
        </p:txBody>
      </p:sp>
      <p:sp>
        <p:nvSpPr>
          <p:cNvPr id="19" name="Text 14"/>
          <p:cNvSpPr txBox="1"/>
          <p:nvPr/>
        </p:nvSpPr>
        <p:spPr>
          <a:xfrm>
            <a:off x="8101584" y="22860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20" kern="0" dirty="0">
                <a:solidFill>
                  <a:srgbClr val="FFE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CHARACTERS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8101584" y="2670048"/>
            <a:ext cx="2350008" cy="292608"/>
          </a:xfrm>
          <a:prstGeom prst="roundRect">
            <a:avLst>
              <a:gd name="adj" fmla="val 18750"/>
            </a:avLst>
          </a:prstGeom>
          <a:solidFill>
            <a:srgbClr val="2A2818"/>
          </a:solidFill>
          <a:ln w="9525">
            <a:solidFill>
              <a:srgbClr val="3C392C"/>
            </a:solidFill>
            <a:prstDash val="solid"/>
          </a:ln>
        </p:spPr>
      </p:sp>
      <p:pic>
        <p:nvPicPr>
          <p:cNvPr id="21" name="Image 3" descr="/private/tmp/claude-501/-Users-eliseogomez-Documents-SWAPP-StarWarsWikiApp-StarWarsWiki/6ca98190-2482-4349-b17c-5c014630cb6d/scratchpad/icons/search-cya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2168" y="2743200"/>
            <a:ext cx="137160" cy="13716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412480" y="268833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969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Search character...</a:t>
            </a:r>
            <a:endParaRPr lang="en-US" sz="850" dirty="0"/>
          </a:p>
        </p:txBody>
      </p:sp>
      <p:sp>
        <p:nvSpPr>
          <p:cNvPr id="23" name="Shape 17"/>
          <p:cNvSpPr/>
          <p:nvPr/>
        </p:nvSpPr>
        <p:spPr>
          <a:xfrm>
            <a:off x="8101584" y="3108960"/>
            <a:ext cx="1124712" cy="822960"/>
          </a:xfrm>
          <a:prstGeom prst="roundRect">
            <a:avLst>
              <a:gd name="adj" fmla="val 6667"/>
            </a:avLst>
          </a:prstGeom>
          <a:solidFill>
            <a:srgbClr val="2A2818"/>
          </a:solidFill>
          <a:ln w="9525">
            <a:solidFill>
              <a:srgbClr val="3C392C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8193024" y="3767328"/>
            <a:ext cx="658368" cy="50292"/>
          </a:xfrm>
          <a:prstGeom prst="rect">
            <a:avLst/>
          </a:prstGeom>
          <a:solidFill>
            <a:srgbClr val="3C392C"/>
          </a:solidFill>
          <a:ln/>
        </p:spPr>
      </p:sp>
      <p:sp>
        <p:nvSpPr>
          <p:cNvPr id="25" name="Shape 19"/>
          <p:cNvSpPr/>
          <p:nvPr/>
        </p:nvSpPr>
        <p:spPr>
          <a:xfrm>
            <a:off x="9326880" y="3108960"/>
            <a:ext cx="1124712" cy="822960"/>
          </a:xfrm>
          <a:prstGeom prst="roundRect">
            <a:avLst>
              <a:gd name="adj" fmla="val 6667"/>
            </a:avLst>
          </a:prstGeom>
          <a:solidFill>
            <a:srgbClr val="2A2818"/>
          </a:solidFill>
          <a:ln w="9525">
            <a:solidFill>
              <a:srgbClr val="3C392C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9418320" y="3767328"/>
            <a:ext cx="658368" cy="50292"/>
          </a:xfrm>
          <a:prstGeom prst="rect">
            <a:avLst/>
          </a:prstGeom>
          <a:solidFill>
            <a:srgbClr val="3C392C"/>
          </a:solidFill>
          <a:ln/>
        </p:spPr>
      </p:sp>
      <p:sp>
        <p:nvSpPr>
          <p:cNvPr id="27" name="Shape 21"/>
          <p:cNvSpPr/>
          <p:nvPr/>
        </p:nvSpPr>
        <p:spPr>
          <a:xfrm>
            <a:off x="8101584" y="4041648"/>
            <a:ext cx="1124712" cy="822960"/>
          </a:xfrm>
          <a:prstGeom prst="roundRect">
            <a:avLst>
              <a:gd name="adj" fmla="val 6667"/>
            </a:avLst>
          </a:prstGeom>
          <a:solidFill>
            <a:srgbClr val="2A2818"/>
          </a:solidFill>
          <a:ln w="9525">
            <a:solidFill>
              <a:srgbClr val="3C392C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8193024" y="4700016"/>
            <a:ext cx="658368" cy="50292"/>
          </a:xfrm>
          <a:prstGeom prst="rect">
            <a:avLst/>
          </a:prstGeom>
          <a:solidFill>
            <a:srgbClr val="3C392C"/>
          </a:solidFill>
          <a:ln/>
        </p:spPr>
      </p:sp>
      <p:sp>
        <p:nvSpPr>
          <p:cNvPr id="29" name="Shape 23"/>
          <p:cNvSpPr/>
          <p:nvPr/>
        </p:nvSpPr>
        <p:spPr>
          <a:xfrm>
            <a:off x="9326880" y="4041648"/>
            <a:ext cx="1124712" cy="822960"/>
          </a:xfrm>
          <a:prstGeom prst="roundRect">
            <a:avLst>
              <a:gd name="adj" fmla="val 6667"/>
            </a:avLst>
          </a:prstGeom>
          <a:solidFill>
            <a:srgbClr val="2A2818"/>
          </a:solidFill>
          <a:ln w="9525">
            <a:solidFill>
              <a:srgbClr val="3C392C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9418320" y="4700016"/>
            <a:ext cx="658368" cy="50292"/>
          </a:xfrm>
          <a:prstGeom prst="rect">
            <a:avLst/>
          </a:prstGeom>
          <a:solidFill>
            <a:srgbClr val="3C392C"/>
          </a:solidFill>
          <a:ln/>
        </p:spPr>
      </p:sp>
      <p:sp>
        <p:nvSpPr>
          <p:cNvPr id="31" name="Shape 25"/>
          <p:cNvSpPr/>
          <p:nvPr/>
        </p:nvSpPr>
        <p:spPr>
          <a:xfrm>
            <a:off x="8101584" y="4974336"/>
            <a:ext cx="1124712" cy="822960"/>
          </a:xfrm>
          <a:prstGeom prst="roundRect">
            <a:avLst>
              <a:gd name="adj" fmla="val 6667"/>
            </a:avLst>
          </a:prstGeom>
          <a:solidFill>
            <a:srgbClr val="2A2818"/>
          </a:solidFill>
          <a:ln w="9525">
            <a:solidFill>
              <a:srgbClr val="3C392C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8193024" y="5632704"/>
            <a:ext cx="658368" cy="50292"/>
          </a:xfrm>
          <a:prstGeom prst="rect">
            <a:avLst/>
          </a:prstGeom>
          <a:solidFill>
            <a:srgbClr val="3C392C"/>
          </a:solidFill>
          <a:ln/>
        </p:spPr>
      </p:sp>
      <p:sp>
        <p:nvSpPr>
          <p:cNvPr id="33" name="Shape 27"/>
          <p:cNvSpPr/>
          <p:nvPr/>
        </p:nvSpPr>
        <p:spPr>
          <a:xfrm>
            <a:off x="9326880" y="4974336"/>
            <a:ext cx="1124712" cy="822960"/>
          </a:xfrm>
          <a:prstGeom prst="roundRect">
            <a:avLst>
              <a:gd name="adj" fmla="val 6667"/>
            </a:avLst>
          </a:prstGeom>
          <a:solidFill>
            <a:srgbClr val="2A2818"/>
          </a:solidFill>
          <a:ln w="9525">
            <a:solidFill>
              <a:srgbClr val="3C392C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9418320" y="5632704"/>
            <a:ext cx="658368" cy="50292"/>
          </a:xfrm>
          <a:prstGeom prst="rect">
            <a:avLst/>
          </a:prstGeom>
          <a:solidFill>
            <a:srgbClr val="3C392C"/>
          </a:solidFill>
          <a:ln/>
        </p:spPr>
      </p:sp>
      <p:sp>
        <p:nvSpPr>
          <p:cNvPr id="35" name="Text 29"/>
          <p:cNvSpPr txBox="1"/>
          <p:nvPr/>
        </p:nvSpPr>
        <p:spPr>
          <a:xfrm>
            <a:off x="7882128" y="6117336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969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The Characters tab — list, search and detail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3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20" kern="0" dirty="0">
                <a:solidFill>
                  <a:srgbClr val="4D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02  //  AT A GLANCE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spc="60" kern="0" dirty="0">
                <a:solidFill>
                  <a:srgbClr val="E8E2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By the numbers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2542032" cy="1225296"/>
          </a:xfrm>
          <a:prstGeom prst="roundRect">
            <a:avLst>
              <a:gd name="adj" fmla="val 7463"/>
            </a:avLst>
          </a:prstGeom>
          <a:solidFill>
            <a:srgbClr val="1E1C10"/>
          </a:solidFill>
          <a:ln w="12700">
            <a:solidFill>
              <a:srgbClr val="3C392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59536" y="173736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E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2,080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859536" y="2340864"/>
            <a:ext cx="21396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69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Databank entries stored on disk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429000" y="1627632"/>
            <a:ext cx="2542032" cy="1225296"/>
          </a:xfrm>
          <a:prstGeom prst="roundRect">
            <a:avLst>
              <a:gd name="adj" fmla="val 7463"/>
            </a:avLst>
          </a:prstGeom>
          <a:solidFill>
            <a:srgbClr val="1E1C10"/>
          </a:solidFill>
          <a:ln w="12700">
            <a:solidFill>
              <a:srgbClr val="3C392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48456" y="173736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E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1,148</a:t>
            </a:r>
            <a:endParaRPr lang="en-US" sz="3800" dirty="0"/>
          </a:p>
        </p:txBody>
      </p:sp>
      <p:sp>
        <p:nvSpPr>
          <p:cNvPr id="9" name="Text 7"/>
          <p:cNvSpPr txBox="1"/>
          <p:nvPr/>
        </p:nvSpPr>
        <p:spPr>
          <a:xfrm>
            <a:off x="3648456" y="2340864"/>
            <a:ext cx="21396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69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Characters catalogued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17920" y="1627632"/>
            <a:ext cx="2542032" cy="1225296"/>
          </a:xfrm>
          <a:prstGeom prst="roundRect">
            <a:avLst>
              <a:gd name="adj" fmla="val 7463"/>
            </a:avLst>
          </a:prstGeom>
          <a:solidFill>
            <a:srgbClr val="1E1C10"/>
          </a:solidFill>
          <a:ln w="12700">
            <a:solidFill>
              <a:srgbClr val="3C392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37376" y="173736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E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110</a:t>
            </a:r>
            <a:endParaRPr lang="en-US" sz="3800" dirty="0"/>
          </a:p>
        </p:txBody>
      </p:sp>
      <p:sp>
        <p:nvSpPr>
          <p:cNvPr id="12" name="Text 10"/>
          <p:cNvSpPr txBox="1"/>
          <p:nvPr/>
        </p:nvSpPr>
        <p:spPr>
          <a:xfrm>
            <a:off x="6437376" y="2340864"/>
            <a:ext cx="21396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69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Automated tests, all passing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006840" y="1627632"/>
            <a:ext cx="2542032" cy="1225296"/>
          </a:xfrm>
          <a:prstGeom prst="roundRect">
            <a:avLst>
              <a:gd name="adj" fmla="val 7463"/>
            </a:avLst>
          </a:prstGeom>
          <a:solidFill>
            <a:srgbClr val="1E1C10"/>
          </a:solidFill>
          <a:ln w="12700">
            <a:solidFill>
              <a:srgbClr val="3C392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226296" y="173736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E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0</a:t>
            </a:r>
            <a:endParaRPr lang="en-US" sz="3800" dirty="0"/>
          </a:p>
        </p:txBody>
      </p:sp>
      <p:sp>
        <p:nvSpPr>
          <p:cNvPr id="15" name="Text 13"/>
          <p:cNvSpPr txBox="1"/>
          <p:nvPr/>
        </p:nvSpPr>
        <p:spPr>
          <a:xfrm>
            <a:off x="9226296" y="2340864"/>
            <a:ext cx="21396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69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Databases to install or run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1272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4D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DATABANK ENTRIES BY CATEGORY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40080" y="3456432"/>
            <a:ext cx="6812280" cy="2834640"/>
          </a:xfrm>
          <a:prstGeom prst="roundRect">
            <a:avLst>
              <a:gd name="adj" fmla="val 3226"/>
            </a:avLst>
          </a:prstGeom>
          <a:solidFill>
            <a:srgbClr val="1E1C10"/>
          </a:solidFill>
          <a:ln w="12700">
            <a:solidFill>
              <a:srgbClr val="3C392C"/>
            </a:solidFill>
            <a:prstDash val="solid"/>
          </a:ln>
        </p:spPr>
      </p:sp>
      <p:graphicFrame>
        <p:nvGraphicFramePr>
          <p:cNvPr id="18" name="Chart 0" descr=""/>
          <p:cNvGraphicFramePr/>
          <p:nvPr/>
        </p:nvGraphicFramePr>
        <p:xfrm>
          <a:off x="731520" y="3566160"/>
          <a:ext cx="6629400" cy="261518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9" name="Shape 16"/>
          <p:cNvSpPr/>
          <p:nvPr/>
        </p:nvSpPr>
        <p:spPr>
          <a:xfrm>
            <a:off x="7818120" y="3456432"/>
            <a:ext cx="3730752" cy="2834640"/>
          </a:xfrm>
          <a:prstGeom prst="roundRect">
            <a:avLst>
              <a:gd name="adj" fmla="val 3226"/>
            </a:avLst>
          </a:prstGeom>
          <a:solidFill>
            <a:srgbClr val="1E1C10"/>
          </a:solidFill>
          <a:ln w="12700">
            <a:solidFill>
              <a:srgbClr val="3C392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092440" y="3694176"/>
            <a:ext cx="475488" cy="475488"/>
          </a:xfrm>
          <a:prstGeom prst="ellipse">
            <a:avLst/>
          </a:prstGeom>
          <a:solidFill>
            <a:srgbClr val="FFE81F"/>
          </a:solidFill>
          <a:ln/>
        </p:spPr>
      </p:sp>
      <p:pic>
        <p:nvPicPr>
          <p:cNvPr id="21" name="Image 0" descr="/private/tmp/claude-501/-Users-eliseogomez-Documents-SWAPP-StarWarsWikiApp-StarWarsWiki/6ca98190-2482-4349-b17c-5c014630cb6d/scratchpad/icons/database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1312" y="3813048"/>
            <a:ext cx="237744" cy="237744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8092440" y="42793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450" b="1" dirty="0">
                <a:solidFill>
                  <a:srgbClr val="E8E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Why no database?</a:t>
            </a:r>
            <a:endParaRPr lang="en-US" sz="1450" dirty="0"/>
          </a:p>
        </p:txBody>
      </p:sp>
      <p:sp>
        <p:nvSpPr>
          <p:cNvPr id="23" name="Text 19"/>
          <p:cNvSpPr txBox="1"/>
          <p:nvPr/>
        </p:nvSpPr>
        <p:spPr>
          <a:xfrm>
            <a:off x="8092440" y="4626864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969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The Databank barely changes — it is reference material, not user data. Keeping it as plain JSON on disk means no database to run, back up or pay for, and reads are as fast as the filesystem.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3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20" kern="0" dirty="0">
                <a:solidFill>
                  <a:srgbClr val="4D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03  //  ARCHITECTURE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spc="60" kern="0" dirty="0">
                <a:solidFill>
                  <a:srgbClr val="E8E2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The big picture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69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Three layers. The app never talks to the outside world directly — the API does that for it.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3200400" cy="2834640"/>
          </a:xfrm>
          <a:prstGeom prst="roundRect">
            <a:avLst>
              <a:gd name="adj" fmla="val 3226"/>
            </a:avLst>
          </a:prstGeom>
          <a:solidFill>
            <a:srgbClr val="1E1C10"/>
          </a:solidFill>
          <a:ln w="12700">
            <a:solidFill>
              <a:srgbClr val="3C392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" y="2249424"/>
            <a:ext cx="512064" cy="512064"/>
          </a:xfrm>
          <a:prstGeom prst="ellipse">
            <a:avLst/>
          </a:prstGeom>
          <a:solidFill>
            <a:srgbClr val="FFE81F"/>
          </a:solidFill>
          <a:ln/>
        </p:spPr>
      </p:sp>
      <p:pic>
        <p:nvPicPr>
          <p:cNvPr id="7" name="Image 0" descr="/private/tmp/claude-501/-Users-eliseogomez-Documents-SWAPP-StarWarsWikiApp-StarWarsWiki/6ca98190-2482-4349-b17c-5c014630cb6d/scratchpad/icons/mobile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2377440"/>
            <a:ext cx="256032" cy="25603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96112" y="285292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60" kern="0" dirty="0">
                <a:solidFill>
                  <a:srgbClr val="4D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LAYER 1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896112" y="3072384"/>
            <a:ext cx="2688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E8E2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MOBILE APP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024128" y="3493008"/>
            <a:ext cx="25786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969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Expo · React Native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969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Renders screens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969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Caches responses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969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Validates what arrives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498848" y="2011680"/>
            <a:ext cx="3200400" cy="2834640"/>
          </a:xfrm>
          <a:prstGeom prst="roundRect">
            <a:avLst>
              <a:gd name="adj" fmla="val 3226"/>
            </a:avLst>
          </a:prstGeom>
          <a:solidFill>
            <a:srgbClr val="1E1C10"/>
          </a:solidFill>
          <a:ln w="12700">
            <a:solidFill>
              <a:srgbClr val="3C392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54880" y="2249424"/>
            <a:ext cx="512064" cy="512064"/>
          </a:xfrm>
          <a:prstGeom prst="ellipse">
            <a:avLst/>
          </a:prstGeom>
          <a:solidFill>
            <a:srgbClr val="FFE81F"/>
          </a:solidFill>
          <a:ln/>
        </p:spPr>
      </p:sp>
      <p:pic>
        <p:nvPicPr>
          <p:cNvPr id="13" name="Image 1" descr="/private/tmp/claude-501/-Users-eliseogomez-Documents-SWAPP-StarWarsWikiApp-StarWarsWiki/6ca98190-2482-4349-b17c-5c014630cb6d/scratchpad/icons/server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2896" y="2377440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754880" y="285292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60" kern="0" dirty="0">
                <a:solidFill>
                  <a:srgbClr val="4D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LAYER 2</a:t>
            </a:r>
            <a:endParaRPr lang="en-US" sz="850" dirty="0"/>
          </a:p>
        </p:txBody>
      </p:sp>
      <p:sp>
        <p:nvSpPr>
          <p:cNvPr id="15" name="Text 11"/>
          <p:cNvSpPr txBox="1"/>
          <p:nvPr/>
        </p:nvSpPr>
        <p:spPr>
          <a:xfrm>
            <a:off x="4754880" y="3072384"/>
            <a:ext cx="2688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E8E2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BACKEND API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4882896" y="3493008"/>
            <a:ext cx="25786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969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Node.js · Fastify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969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Merges both sources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969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Reshapes the data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969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Documents itself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8348472" y="2011680"/>
            <a:ext cx="3200400" cy="2834640"/>
          </a:xfrm>
          <a:prstGeom prst="roundRect">
            <a:avLst>
              <a:gd name="adj" fmla="val 3226"/>
            </a:avLst>
          </a:prstGeom>
          <a:solidFill>
            <a:srgbClr val="1E1C10"/>
          </a:solidFill>
          <a:ln w="12700">
            <a:solidFill>
              <a:srgbClr val="3C392C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604504" y="2249424"/>
            <a:ext cx="512064" cy="512064"/>
          </a:xfrm>
          <a:prstGeom prst="ellipse">
            <a:avLst/>
          </a:prstGeom>
          <a:solidFill>
            <a:srgbClr val="FFE81F"/>
          </a:solidFill>
          <a:ln/>
        </p:spPr>
      </p:sp>
      <p:pic>
        <p:nvPicPr>
          <p:cNvPr id="19" name="Image 2" descr="/private/tmp/claude-501/-Users-eliseogomez-Documents-SWAPP-StarWarsWikiApp-StarWarsWiki/6ca98190-2482-4349-b17c-5c014630cb6d/scratchpad/icons/cloud-d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0" y="2377440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604504" y="285292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60" kern="0" dirty="0">
                <a:solidFill>
                  <a:srgbClr val="4D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LAYER 3</a:t>
            </a:r>
            <a:endParaRPr lang="en-US" sz="850" dirty="0"/>
          </a:p>
        </p:txBody>
      </p:sp>
      <p:sp>
        <p:nvSpPr>
          <p:cNvPr id="21" name="Text 16"/>
          <p:cNvSpPr txBox="1"/>
          <p:nvPr/>
        </p:nvSpPr>
        <p:spPr>
          <a:xfrm>
            <a:off x="8604504" y="3072384"/>
            <a:ext cx="2688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E8E2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DATA SOURCES</a:t>
            </a:r>
            <a:endParaRPr lang="en-US" sz="1600" dirty="0"/>
          </a:p>
        </p:txBody>
      </p:sp>
      <p:sp>
        <p:nvSpPr>
          <p:cNvPr id="22" name="Text 17"/>
          <p:cNvSpPr txBox="1"/>
          <p:nvPr/>
        </p:nvSpPr>
        <p:spPr>
          <a:xfrm>
            <a:off x="8732520" y="3493008"/>
            <a:ext cx="25786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969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SWAPI (live)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969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StarWars.com Databank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969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Local JSON archive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969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Film poster images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3950208" y="3291840"/>
            <a:ext cx="438912" cy="0"/>
          </a:xfrm>
          <a:prstGeom prst="line">
            <a:avLst/>
          </a:prstGeom>
          <a:noFill/>
          <a:ln w="22225">
            <a:solidFill>
              <a:srgbClr val="3C392C"/>
            </a:solidFill>
            <a:prstDash val="solid"/>
            <a:tailEnd type="triangle"/>
          </a:ln>
        </p:spPr>
      </p:sp>
      <p:sp>
        <p:nvSpPr>
          <p:cNvPr id="24" name="Shape 19"/>
          <p:cNvSpPr/>
          <p:nvPr/>
        </p:nvSpPr>
        <p:spPr>
          <a:xfrm>
            <a:off x="7799832" y="3291840"/>
            <a:ext cx="438912" cy="0"/>
          </a:xfrm>
          <a:prstGeom prst="line">
            <a:avLst/>
          </a:prstGeom>
          <a:noFill/>
          <a:ln w="22225">
            <a:solidFill>
              <a:srgbClr val="3C392C"/>
            </a:solidFill>
            <a:prstDash val="solid"/>
            <a:tailEnd type="triangle"/>
          </a:ln>
        </p:spPr>
      </p:sp>
      <p:sp>
        <p:nvSpPr>
          <p:cNvPr id="25" name="Text 20"/>
          <p:cNvSpPr txBox="1"/>
          <p:nvPr/>
        </p:nvSpPr>
        <p:spPr>
          <a:xfrm>
            <a:off x="3767328" y="2615184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4D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HTTPS</a:t>
            </a:r>
            <a:endParaRPr lang="en-US" sz="8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4D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JSON</a:t>
            </a:r>
            <a:endParaRPr lang="en-US" sz="850" dirty="0"/>
          </a:p>
        </p:txBody>
      </p:sp>
      <p:sp>
        <p:nvSpPr>
          <p:cNvPr id="26" name="Text 21"/>
          <p:cNvSpPr txBox="1"/>
          <p:nvPr/>
        </p:nvSpPr>
        <p:spPr>
          <a:xfrm>
            <a:off x="7616952" y="2615184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4D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fetch</a:t>
            </a:r>
            <a:endParaRPr lang="en-US" sz="8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4D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sync</a:t>
            </a:r>
            <a:endParaRPr lang="en-US" sz="850" dirty="0"/>
          </a:p>
        </p:txBody>
      </p:sp>
      <p:sp>
        <p:nvSpPr>
          <p:cNvPr id="27" name="Shape 22"/>
          <p:cNvSpPr/>
          <p:nvPr/>
        </p:nvSpPr>
        <p:spPr>
          <a:xfrm>
            <a:off x="640080" y="5138928"/>
            <a:ext cx="10911535" cy="1024128"/>
          </a:xfrm>
          <a:prstGeom prst="roundRect">
            <a:avLst>
              <a:gd name="adj" fmla="val 8929"/>
            </a:avLst>
          </a:prstGeom>
          <a:solidFill>
            <a:srgbClr val="2A2818"/>
          </a:solidFill>
          <a:ln w="12700">
            <a:solidFill>
              <a:srgbClr val="3C392C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914400" y="5367528"/>
            <a:ext cx="457200" cy="457200"/>
          </a:xfrm>
          <a:prstGeom prst="ellipse">
            <a:avLst/>
          </a:prstGeom>
          <a:solidFill>
            <a:srgbClr val="FFE81F"/>
          </a:solidFill>
          <a:ln/>
        </p:spPr>
      </p:sp>
      <p:pic>
        <p:nvPicPr>
          <p:cNvPr id="29" name="Image 3" descr="/private/tmp/claude-501/-Users-eliseogomez-Documents-SWAPP-StarWarsWikiApp-StarWarsWiki/6ca98190-2482-4349-b17c-5c014630cb6d/scratchpad/icons/compass-d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" y="5481828"/>
            <a:ext cx="228600" cy="228600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1554480" y="5376672"/>
            <a:ext cx="97228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E8E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In everyday terms:  the phone asks our server a simple question ("give me page 2 of characters"). Our server does the messy work — calling the public APIs, matching records, attaching images — and hands back one clean, predictable answer.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3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20" kern="0" dirty="0">
                <a:solidFill>
                  <a:srgbClr val="4D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04  //  PROJECT STRUCTURE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spc="60" kern="0" dirty="0">
                <a:solidFill>
                  <a:srgbClr val="E8E2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One repository, three apps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5806440" cy="4160520"/>
          </a:xfrm>
          <a:prstGeom prst="roundRect">
            <a:avLst>
              <a:gd name="adj" fmla="val 2198"/>
            </a:avLst>
          </a:prstGeom>
          <a:solidFill>
            <a:srgbClr val="1E1C10"/>
          </a:solidFill>
          <a:ln w="12700">
            <a:solidFill>
              <a:srgbClr val="3C392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2688" y="181051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4D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STARWARSWIKI/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932688" y="2084832"/>
            <a:ext cx="5257800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8E2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apps/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8E2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backend/   Fastify API · TypeScript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8E2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src/modules/databank/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8E2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src/modules/swapi/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8E2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src/plugins/     cors · static · docs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8E2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data/*.json      the archive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8E2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public/films/    poster images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8E2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tests/           96 tests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8E2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mobile/    Expo app · React Native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8E2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app/             file-based routes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8E2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src/api/         client · schemas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8E2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src/components/  shared screens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8E2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src/theme/       design tokens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8E2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tests/           14 tests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8E2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web/       coming soon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8E2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package.json         npm workspaces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784848" y="1572768"/>
            <a:ext cx="4764024" cy="1280160"/>
          </a:xfrm>
          <a:prstGeom prst="roundRect">
            <a:avLst>
              <a:gd name="adj" fmla="val 7143"/>
            </a:avLst>
          </a:prstGeom>
          <a:solidFill>
            <a:srgbClr val="1E1C10"/>
          </a:solidFill>
          <a:ln w="12700">
            <a:solidFill>
              <a:srgbClr val="3C392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59168" y="1828800"/>
            <a:ext cx="420624" cy="420624"/>
          </a:xfrm>
          <a:prstGeom prst="ellipse">
            <a:avLst/>
          </a:prstGeom>
          <a:solidFill>
            <a:srgbClr val="FFE81F"/>
          </a:solidFill>
          <a:ln/>
        </p:spPr>
      </p:sp>
      <p:pic>
        <p:nvPicPr>
          <p:cNvPr id="9" name="Image 0" descr="/private/tmp/claude-501/-Users-eliseogomez-Documents-SWAPP-StarWarsWikiApp-StarWarsWiki/6ca98190-2482-4349-b17c-5c014630cb6d/scratchpad/icons/link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64324" y="1933956"/>
            <a:ext cx="210312" cy="21031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607808" y="18105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E8E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Shared tooling, one install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7607808" y="2121408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69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A single npm install wires up both apps. Lint, format and commit hooks are defined once at the root.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784848" y="3017520"/>
            <a:ext cx="4764024" cy="1280160"/>
          </a:xfrm>
          <a:prstGeom prst="roundRect">
            <a:avLst>
              <a:gd name="adj" fmla="val 7143"/>
            </a:avLst>
          </a:prstGeom>
          <a:solidFill>
            <a:srgbClr val="1E1C10"/>
          </a:solidFill>
          <a:ln w="12700">
            <a:solidFill>
              <a:srgbClr val="3C392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059168" y="3273552"/>
            <a:ext cx="420624" cy="420624"/>
          </a:xfrm>
          <a:prstGeom prst="ellipse">
            <a:avLst/>
          </a:prstGeom>
          <a:solidFill>
            <a:srgbClr val="FFE81F"/>
          </a:solidFill>
          <a:ln/>
        </p:spPr>
      </p:sp>
      <p:pic>
        <p:nvPicPr>
          <p:cNvPr id="14" name="Image 1" descr="/private/tmp/claude-501/-Users-eliseogomez-Documents-SWAPP-StarWarsWikiApp-StarWarsWiki/6ca98190-2482-4349-b17c-5c014630cb6d/scratchpad/icons/bars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4324" y="3378708"/>
            <a:ext cx="210312" cy="21031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7607808" y="325526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E8E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Independent runtimes</a:t>
            </a:r>
            <a:endParaRPr lang="en-US" sz="1350" dirty="0"/>
          </a:p>
        </p:txBody>
      </p:sp>
      <p:sp>
        <p:nvSpPr>
          <p:cNvPr id="16" name="Text 12"/>
          <p:cNvSpPr txBox="1"/>
          <p:nvPr/>
        </p:nvSpPr>
        <p:spPr>
          <a:xfrm>
            <a:off x="7607808" y="3566160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69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The API and the app are versioned together but run and deploy separately — neither blocks the other.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784848" y="4462272"/>
            <a:ext cx="4764024" cy="1280160"/>
          </a:xfrm>
          <a:prstGeom prst="roundRect">
            <a:avLst>
              <a:gd name="adj" fmla="val 7143"/>
            </a:avLst>
          </a:prstGeom>
          <a:solidFill>
            <a:srgbClr val="1E1C10"/>
          </a:solidFill>
          <a:ln w="12700">
            <a:solidFill>
              <a:srgbClr val="3C392C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059168" y="4718304"/>
            <a:ext cx="420624" cy="420624"/>
          </a:xfrm>
          <a:prstGeom prst="ellipse">
            <a:avLst/>
          </a:prstGeom>
          <a:solidFill>
            <a:srgbClr val="FFE81F"/>
          </a:solidFill>
          <a:ln/>
        </p:spPr>
      </p:sp>
      <p:pic>
        <p:nvPicPr>
          <p:cNvPr id="19" name="Image 2" descr="/private/tmp/claude-501/-Users-eliseogomez-Documents-SWAPP-StarWarsWikiApp-StarWarsWiki/6ca98190-2482-4349-b17c-5c014630cb6d/scratchpad/icons/shield-d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4324" y="4823460"/>
            <a:ext cx="210312" cy="210312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7607808" y="470001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E8E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One React, enforced</a:t>
            </a:r>
            <a:endParaRPr lang="en-US" sz="1350" dirty="0"/>
          </a:p>
        </p:txBody>
      </p:sp>
      <p:sp>
        <p:nvSpPr>
          <p:cNvPr id="21" name="Text 16"/>
          <p:cNvSpPr txBox="1"/>
          <p:nvPr/>
        </p:nvSpPr>
        <p:spPr>
          <a:xfrm>
            <a:off x="7607808" y="5010912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69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A root overrides block pins a single React version, preventing the duplicate-copy bugs that break rendering.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3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20" kern="0" dirty="0">
                <a:solidFill>
                  <a:srgbClr val="4D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05  //  BACKEND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spc="60" kern="0" dirty="0">
                <a:solidFill>
                  <a:srgbClr val="E8E2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How the API is layered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69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Every request walks the same five stages — each one with a single job.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139696"/>
            <a:ext cx="2011680" cy="1700784"/>
          </a:xfrm>
          <a:prstGeom prst="roundRect">
            <a:avLst>
              <a:gd name="adj" fmla="val 5376"/>
            </a:avLst>
          </a:prstGeom>
          <a:solidFill>
            <a:srgbClr val="1E1C10"/>
          </a:solidFill>
          <a:ln w="12700">
            <a:solidFill>
              <a:srgbClr val="3C392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2322576"/>
            <a:ext cx="384048" cy="384048"/>
          </a:xfrm>
          <a:prstGeom prst="ellipse">
            <a:avLst/>
          </a:prstGeom>
          <a:solidFill>
            <a:srgbClr val="FFE81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41248" y="2322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13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1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2798064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450" b="1" dirty="0">
                <a:solidFill>
                  <a:srgbClr val="E8E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Route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3127248"/>
            <a:ext cx="1645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969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Declares the URL and</a:t>
            </a:r>
            <a:endParaRPr lang="en-US" sz="10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969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its Zod schema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683764" y="2990088"/>
            <a:ext cx="146304" cy="0"/>
          </a:xfrm>
          <a:prstGeom prst="line">
            <a:avLst/>
          </a:prstGeom>
          <a:noFill/>
          <a:ln w="22225">
            <a:solidFill>
              <a:srgbClr val="3C392C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862072" y="2139696"/>
            <a:ext cx="2011680" cy="1700784"/>
          </a:xfrm>
          <a:prstGeom prst="roundRect">
            <a:avLst>
              <a:gd name="adj" fmla="val 5376"/>
            </a:avLst>
          </a:prstGeom>
          <a:solidFill>
            <a:srgbClr val="1E1C10"/>
          </a:solidFill>
          <a:ln w="12700">
            <a:solidFill>
              <a:srgbClr val="3C392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63240" y="2322576"/>
            <a:ext cx="384048" cy="384048"/>
          </a:xfrm>
          <a:prstGeom prst="ellipse">
            <a:avLst/>
          </a:prstGeom>
          <a:solidFill>
            <a:srgbClr val="FFE81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063240" y="2322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13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2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3063240" y="2798064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450" b="1" dirty="0">
                <a:solidFill>
                  <a:srgbClr val="E8E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Controller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3063240" y="3127248"/>
            <a:ext cx="1645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969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Reads query params,</a:t>
            </a:r>
            <a:endParaRPr lang="en-US" sz="10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969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shapes the reply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905756" y="2990088"/>
            <a:ext cx="146304" cy="0"/>
          </a:xfrm>
          <a:prstGeom prst="line">
            <a:avLst/>
          </a:prstGeom>
          <a:noFill/>
          <a:ln w="22225">
            <a:solidFill>
              <a:srgbClr val="3C392C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084064" y="2139696"/>
            <a:ext cx="2011680" cy="1700784"/>
          </a:xfrm>
          <a:prstGeom prst="roundRect">
            <a:avLst>
              <a:gd name="adj" fmla="val 5376"/>
            </a:avLst>
          </a:prstGeom>
          <a:solidFill>
            <a:srgbClr val="1E1C10"/>
          </a:solidFill>
          <a:ln w="12700">
            <a:solidFill>
              <a:srgbClr val="3C392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285232" y="2322576"/>
            <a:ext cx="384048" cy="384048"/>
          </a:xfrm>
          <a:prstGeom prst="ellipse">
            <a:avLst/>
          </a:prstGeom>
          <a:solidFill>
            <a:srgbClr val="FFE81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285232" y="2322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13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3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5285232" y="2798064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450" b="1" dirty="0">
                <a:solidFill>
                  <a:srgbClr val="E8E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Service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5285232" y="3127248"/>
            <a:ext cx="1645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969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Business logic:</a:t>
            </a:r>
            <a:endParaRPr lang="en-US" sz="10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969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merge and enrich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127748" y="2990088"/>
            <a:ext cx="146304" cy="0"/>
          </a:xfrm>
          <a:prstGeom prst="line">
            <a:avLst/>
          </a:prstGeom>
          <a:noFill/>
          <a:ln w="22225">
            <a:solidFill>
              <a:srgbClr val="3C392C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306056" y="2139696"/>
            <a:ext cx="2011680" cy="1700784"/>
          </a:xfrm>
          <a:prstGeom prst="roundRect">
            <a:avLst>
              <a:gd name="adj" fmla="val 5376"/>
            </a:avLst>
          </a:prstGeom>
          <a:solidFill>
            <a:srgbClr val="1E1C10"/>
          </a:solidFill>
          <a:ln w="12700">
            <a:solidFill>
              <a:srgbClr val="3C392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07224" y="2322576"/>
            <a:ext cx="384048" cy="384048"/>
          </a:xfrm>
          <a:prstGeom prst="ellipse">
            <a:avLst/>
          </a:prstGeom>
          <a:solidFill>
            <a:srgbClr val="FFE81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507224" y="2322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13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4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7507224" y="2798064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450" b="1" dirty="0">
                <a:solidFill>
                  <a:srgbClr val="E8E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Client</a:t>
            </a:r>
            <a:endParaRPr lang="en-US" sz="1450" dirty="0"/>
          </a:p>
        </p:txBody>
      </p:sp>
      <p:sp>
        <p:nvSpPr>
          <p:cNvPr id="27" name="Text 25"/>
          <p:cNvSpPr txBox="1"/>
          <p:nvPr/>
        </p:nvSpPr>
        <p:spPr>
          <a:xfrm>
            <a:off x="7507224" y="3127248"/>
            <a:ext cx="1645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969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Talks to SWAPI over</a:t>
            </a:r>
            <a:endParaRPr lang="en-US" sz="10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969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plain fetch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349740" y="2990088"/>
            <a:ext cx="146304" cy="0"/>
          </a:xfrm>
          <a:prstGeom prst="line">
            <a:avLst/>
          </a:prstGeom>
          <a:noFill/>
          <a:ln w="22225">
            <a:solidFill>
              <a:srgbClr val="3C392C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528048" y="2139696"/>
            <a:ext cx="2011680" cy="1700784"/>
          </a:xfrm>
          <a:prstGeom prst="roundRect">
            <a:avLst>
              <a:gd name="adj" fmla="val 5376"/>
            </a:avLst>
          </a:prstGeom>
          <a:solidFill>
            <a:srgbClr val="1E1C10"/>
          </a:solidFill>
          <a:ln w="12700">
            <a:solidFill>
              <a:srgbClr val="3C392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729216" y="2322576"/>
            <a:ext cx="384048" cy="384048"/>
          </a:xfrm>
          <a:prstGeom prst="ellipse">
            <a:avLst/>
          </a:prstGeom>
          <a:solidFill>
            <a:srgbClr val="FFE81F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729216" y="2322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13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5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9729216" y="2798064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450" b="1" dirty="0">
                <a:solidFill>
                  <a:srgbClr val="E8E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Storage</a:t>
            </a:r>
            <a:endParaRPr lang="en-US" sz="1450" dirty="0"/>
          </a:p>
        </p:txBody>
      </p:sp>
      <p:sp>
        <p:nvSpPr>
          <p:cNvPr id="33" name="Text 31"/>
          <p:cNvSpPr txBox="1"/>
          <p:nvPr/>
        </p:nvSpPr>
        <p:spPr>
          <a:xfrm>
            <a:off x="9729216" y="3127248"/>
            <a:ext cx="1645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969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Reads the local</a:t>
            </a:r>
            <a:endParaRPr lang="en-US" sz="10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969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JSON archive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40080" y="4133088"/>
            <a:ext cx="5349240" cy="1828800"/>
          </a:xfrm>
          <a:prstGeom prst="roundRect">
            <a:avLst>
              <a:gd name="adj" fmla="val 5000"/>
            </a:avLst>
          </a:prstGeom>
          <a:solidFill>
            <a:srgbClr val="1E1C10"/>
          </a:solidFill>
          <a:ln w="12700">
            <a:solidFill>
              <a:srgbClr val="3C392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14400" y="4389120"/>
            <a:ext cx="457200" cy="457200"/>
          </a:xfrm>
          <a:prstGeom prst="ellipse">
            <a:avLst/>
          </a:prstGeom>
          <a:solidFill>
            <a:srgbClr val="FFE81F"/>
          </a:solidFill>
          <a:ln/>
        </p:spPr>
      </p:sp>
      <p:pic>
        <p:nvPicPr>
          <p:cNvPr id="36" name="Image 0" descr="/private/tmp/claude-501/-Users-eliseogomez-Documents-SWAPP-StarWarsWikiApp-StarWarsWiki/6ca98190-2482-4349-b17c-5c014630cb6d/scratchpad/icons/database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4503420"/>
            <a:ext cx="228600" cy="228600"/>
          </a:xfrm>
          <a:prstGeom prst="rect">
            <a:avLst/>
          </a:prstGeom>
        </p:spPr>
      </p:pic>
      <p:sp>
        <p:nvSpPr>
          <p:cNvPr id="37" name="Text 34"/>
          <p:cNvSpPr txBox="1"/>
          <p:nvPr/>
        </p:nvSpPr>
        <p:spPr>
          <a:xfrm>
            <a:off x="1499616" y="4379976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E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databank</a:t>
            </a:r>
            <a:endParaRPr lang="en-US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1499616" y="4672584"/>
            <a:ext cx="4251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60" kern="0" dirty="0">
                <a:solidFill>
                  <a:srgbClr val="4D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THE ARCHIVE</a:t>
            </a:r>
            <a:endParaRPr lang="en-US" sz="850" dirty="0"/>
          </a:p>
        </p:txBody>
      </p:sp>
      <p:sp>
        <p:nvSpPr>
          <p:cNvPr id="39" name="Text 36"/>
          <p:cNvSpPr txBox="1"/>
          <p:nvPr/>
        </p:nvSpPr>
        <p:spPr>
          <a:xfrm>
            <a:off x="914400" y="502920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969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Scrapes StarWars.com by category, writes each one to a flat JSON file, and serves it back with search, pagination and slug lookup. A sync endpoint refreshes it on demand.</a:t>
            </a:r>
            <a:endParaRPr lang="en-US" sz="1150" dirty="0"/>
          </a:p>
        </p:txBody>
      </p:sp>
      <p:sp>
        <p:nvSpPr>
          <p:cNvPr id="40" name="Shape 37"/>
          <p:cNvSpPr/>
          <p:nvPr/>
        </p:nvSpPr>
        <p:spPr>
          <a:xfrm>
            <a:off x="6263640" y="4133088"/>
            <a:ext cx="5285232" cy="1828800"/>
          </a:xfrm>
          <a:prstGeom prst="roundRect">
            <a:avLst>
              <a:gd name="adj" fmla="val 5000"/>
            </a:avLst>
          </a:prstGeom>
          <a:solidFill>
            <a:srgbClr val="1E1C10"/>
          </a:solidFill>
          <a:ln w="12700">
            <a:solidFill>
              <a:srgbClr val="3C392C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6537960" y="4389120"/>
            <a:ext cx="457200" cy="457200"/>
          </a:xfrm>
          <a:prstGeom prst="ellipse">
            <a:avLst/>
          </a:prstGeom>
          <a:solidFill>
            <a:srgbClr val="FFE81F"/>
          </a:solidFill>
          <a:ln/>
        </p:spPr>
      </p:sp>
      <p:pic>
        <p:nvPicPr>
          <p:cNvPr id="42" name="Image 1" descr="/private/tmp/claude-501/-Users-eliseogomez-Documents-SWAPP-StarWarsWikiApp-StarWarsWiki/6ca98190-2482-4349-b17c-5c014630cb6d/scratchpad/icons/search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2260" y="4503420"/>
            <a:ext cx="228600" cy="228600"/>
          </a:xfrm>
          <a:prstGeom prst="rect">
            <a:avLst/>
          </a:prstGeom>
        </p:spPr>
      </p:pic>
      <p:sp>
        <p:nvSpPr>
          <p:cNvPr id="43" name="Text 39"/>
          <p:cNvSpPr txBox="1"/>
          <p:nvPr/>
        </p:nvSpPr>
        <p:spPr>
          <a:xfrm>
            <a:off x="7123176" y="4379976"/>
            <a:ext cx="4187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E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swapi</a:t>
            </a:r>
            <a:endParaRPr lang="en-US" sz="1500" dirty="0"/>
          </a:p>
        </p:txBody>
      </p:sp>
      <p:sp>
        <p:nvSpPr>
          <p:cNvPr id="44" name="Text 40"/>
          <p:cNvSpPr txBox="1"/>
          <p:nvPr/>
        </p:nvSpPr>
        <p:spPr>
          <a:xfrm>
            <a:off x="7123176" y="4672584"/>
            <a:ext cx="4187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60" kern="0" dirty="0">
                <a:solidFill>
                  <a:srgbClr val="4D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THE ENRICHER</a:t>
            </a:r>
            <a:endParaRPr lang="en-US" sz="850" dirty="0"/>
          </a:p>
        </p:txBody>
      </p:sp>
      <p:sp>
        <p:nvSpPr>
          <p:cNvPr id="45" name="Text 41"/>
          <p:cNvSpPr txBox="1"/>
          <p:nvPr/>
        </p:nvSpPr>
        <p:spPr>
          <a:xfrm>
            <a:off x="6537960" y="5029200"/>
            <a:ext cx="47365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969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Proxies SWAPI live, converts every reference URL to a plain numeric id, and attaches the matching Databank record so each result carries stats, artwork and lore together.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3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20" kern="0" dirty="0">
                <a:solidFill>
                  <a:srgbClr val="4D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06  //  THE DATA PROBLEM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spc="60" kern="0" dirty="0">
                <a:solidFill>
                  <a:srgbClr val="E8E2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Two sources, one record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69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Neither public source is complete on its own. That gap is the reason this API exists.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4937760" cy="2670048"/>
          </a:xfrm>
          <a:prstGeom prst="roundRect">
            <a:avLst>
              <a:gd name="adj" fmla="val 3425"/>
            </a:avLst>
          </a:prstGeom>
          <a:solidFill>
            <a:srgbClr val="1E1C10"/>
          </a:solidFill>
          <a:ln w="12700">
            <a:solidFill>
              <a:srgbClr val="3C392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19456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spc="140" kern="0" dirty="0">
                <a:solidFill>
                  <a:srgbClr val="FFE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SWAPI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542032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60" kern="0" dirty="0">
                <a:solidFill>
                  <a:srgbClr val="4D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SWAPI.DEV  ·  LIVE</a:t>
            </a:r>
            <a:endParaRPr lang="en-US" sz="850" dirty="0"/>
          </a:p>
        </p:txBody>
      </p:sp>
      <p:pic>
        <p:nvPicPr>
          <p:cNvPr id="8" name="Image 0" descr="/private/tmp/claude-501/-Users-eliseogomez-Documents-SWAPP-StarWarsWikiApp-StarWarsWiki/6ca98190-2482-4349-b17c-5c014630cb6d/scratchpad/icons/check-cy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2926080"/>
            <a:ext cx="146304" cy="14630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170432" y="2889504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E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Height, mass, crew, hyperdrive rating</a:t>
            </a:r>
            <a:endParaRPr lang="en-US" sz="1150" dirty="0"/>
          </a:p>
        </p:txBody>
      </p:sp>
      <p:pic>
        <p:nvPicPr>
          <p:cNvPr id="10" name="Image 1" descr="/private/tmp/claude-501/-Users-eliseogomez-Documents-SWAPP-StarWarsWikiApp-StarWarsWiki/6ca98190-2482-4349-b17c-5c014630cb6d/scratchpad/icons/check-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3255264"/>
            <a:ext cx="146304" cy="14630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170432" y="321868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E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Films, pilots, homeworlds, residents</a:t>
            </a:r>
            <a:endParaRPr lang="en-US" sz="1150" dirty="0"/>
          </a:p>
        </p:txBody>
      </p:sp>
      <p:pic>
        <p:nvPicPr>
          <p:cNvPr id="12" name="Image 2" descr="/private/tmp/claude-501/-Users-eliseogomez-Documents-SWAPP-StarWarsWikiApp-StarWarsWiki/6ca98190-2482-4349-b17c-5c014630cb6d/scratchpad/icons/check-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3584448"/>
            <a:ext cx="146304" cy="14630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170432" y="354787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E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Consistent, machine-readable fields</a:t>
            </a:r>
            <a:endParaRPr lang="en-US" sz="1150" dirty="0"/>
          </a:p>
        </p:txBody>
      </p:sp>
      <p:pic>
        <p:nvPicPr>
          <p:cNvPr id="14" name="Image 3" descr="/private/tmp/claude-501/-Users-eliseogomez-Documents-SWAPP-StarWarsWikiApp-StarWarsWiki/6ca98190-2482-4349-b17c-5c014630cb6d/scratchpad/icons/times-tex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4023360"/>
            <a:ext cx="146304" cy="14630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170432" y="3986784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F5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No images at all</a:t>
            </a:r>
            <a:endParaRPr lang="en-US" sz="1150" dirty="0"/>
          </a:p>
        </p:txBody>
      </p:sp>
      <p:pic>
        <p:nvPicPr>
          <p:cNvPr id="16" name="Image 4" descr="/private/tmp/claude-501/-Users-eliseogomez-Documents-SWAPP-StarWarsWikiApp-StarWarsWiki/6ca98190-2482-4349-b17c-5c014630cb6d/scratchpad/icons/times-tex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" y="4352544"/>
            <a:ext cx="146304" cy="146304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170432" y="431596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F5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No descriptions or lore</a:t>
            </a:r>
            <a:endParaRPr lang="en-US" sz="1150" dirty="0"/>
          </a:p>
        </p:txBody>
      </p:sp>
      <p:sp>
        <p:nvSpPr>
          <p:cNvPr id="18" name="Shape 11"/>
          <p:cNvSpPr/>
          <p:nvPr/>
        </p:nvSpPr>
        <p:spPr>
          <a:xfrm>
            <a:off x="6611112" y="2011680"/>
            <a:ext cx="4937760" cy="2670048"/>
          </a:xfrm>
          <a:prstGeom prst="roundRect">
            <a:avLst>
              <a:gd name="adj" fmla="val 3425"/>
            </a:avLst>
          </a:prstGeom>
          <a:solidFill>
            <a:srgbClr val="1E1C10"/>
          </a:solidFill>
          <a:ln w="12700">
            <a:solidFill>
              <a:srgbClr val="3C392C"/>
            </a:solidFill>
            <a:prstDash val="solid"/>
          </a:ln>
        </p:spPr>
      </p:sp>
      <p:sp>
        <p:nvSpPr>
          <p:cNvPr id="19" name="Text 12"/>
          <p:cNvSpPr txBox="1"/>
          <p:nvPr/>
        </p:nvSpPr>
        <p:spPr>
          <a:xfrm>
            <a:off x="6885432" y="219456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spc="140" kern="0" dirty="0">
                <a:solidFill>
                  <a:srgbClr val="FFE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DATABANK</a:t>
            </a:r>
            <a:endParaRPr lang="en-US" sz="1900" dirty="0"/>
          </a:p>
        </p:txBody>
      </p:sp>
      <p:sp>
        <p:nvSpPr>
          <p:cNvPr id="20" name="Text 13"/>
          <p:cNvSpPr txBox="1"/>
          <p:nvPr/>
        </p:nvSpPr>
        <p:spPr>
          <a:xfrm>
            <a:off x="6885432" y="2542032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60" kern="0" dirty="0">
                <a:solidFill>
                  <a:srgbClr val="4D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STARWARS.COM  ·  SYNCED</a:t>
            </a:r>
            <a:endParaRPr lang="en-US" sz="850" dirty="0"/>
          </a:p>
        </p:txBody>
      </p:sp>
      <p:pic>
        <p:nvPicPr>
          <p:cNvPr id="21" name="Image 5" descr="/private/tmp/claude-501/-Users-eliseogomez-Documents-SWAPP-StarWarsWikiApp-StarWarsWiki/6ca98190-2482-4349-b17c-5c014630cb6d/scratchpad/icons/check-cya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03720" y="2926080"/>
            <a:ext cx="146304" cy="146304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7141464" y="2889504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E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Official artwork and photography</a:t>
            </a:r>
            <a:endParaRPr lang="en-US" sz="1150" dirty="0"/>
          </a:p>
        </p:txBody>
      </p:sp>
      <p:pic>
        <p:nvPicPr>
          <p:cNvPr id="23" name="Image 6" descr="/private/tmp/claude-501/-Users-eliseogomez-Documents-SWAPP-StarWarsWikiApp-StarWarsWiki/6ca98190-2482-4349-b17c-5c014630cb6d/scratchpad/icons/check-cya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03720" y="3255264"/>
            <a:ext cx="146304" cy="146304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7141464" y="321868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E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Written descriptions and lore</a:t>
            </a:r>
            <a:endParaRPr lang="en-US" sz="1150" dirty="0"/>
          </a:p>
        </p:txBody>
      </p:sp>
      <p:pic>
        <p:nvPicPr>
          <p:cNvPr id="25" name="Image 7" descr="/private/tmp/claude-501/-Users-eliseogomez-Documents-SWAPP-StarWarsWikiApp-StarWarsWiki/6ca98190-2482-4349-b17c-5c014630cb6d/scratchpad/icons/check-cyan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03720" y="3584448"/>
            <a:ext cx="146304" cy="146304"/>
          </a:xfrm>
          <a:prstGeom prst="rect">
            <a:avLst/>
          </a:prstGeom>
        </p:spPr>
      </p:pic>
      <p:sp>
        <p:nvSpPr>
          <p:cNvPr id="26" name="Text 16"/>
          <p:cNvSpPr txBox="1"/>
          <p:nvPr/>
        </p:nvSpPr>
        <p:spPr>
          <a:xfrm>
            <a:off x="7141464" y="354787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E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2,080 entries across six categories</a:t>
            </a:r>
            <a:endParaRPr lang="en-US" sz="1150" dirty="0"/>
          </a:p>
        </p:txBody>
      </p:sp>
      <p:pic>
        <p:nvPicPr>
          <p:cNvPr id="27" name="Image 8" descr="/private/tmp/claude-501/-Users-eliseogomez-Documents-SWAPP-StarWarsWikiApp-StarWarsWiki/6ca98190-2482-4349-b17c-5c014630cb6d/scratchpad/icons/times-text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03720" y="4023360"/>
            <a:ext cx="146304" cy="146304"/>
          </a:xfrm>
          <a:prstGeom prst="rect">
            <a:avLst/>
          </a:prstGeom>
        </p:spPr>
      </p:pic>
      <p:sp>
        <p:nvSpPr>
          <p:cNvPr id="28" name="Text 17"/>
          <p:cNvSpPr txBox="1"/>
          <p:nvPr/>
        </p:nvSpPr>
        <p:spPr>
          <a:xfrm>
            <a:off x="7141464" y="3986784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F5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No numeric statistics</a:t>
            </a:r>
            <a:endParaRPr lang="en-US" sz="1150" dirty="0"/>
          </a:p>
        </p:txBody>
      </p:sp>
      <p:pic>
        <p:nvPicPr>
          <p:cNvPr id="29" name="Image 9" descr="/private/tmp/claude-501/-Users-eliseogomez-Documents-SWAPP-StarWarsWikiApp-StarWarsWiki/6ca98190-2482-4349-b17c-5c014630cb6d/scratchpad/icons/times-text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03720" y="4352544"/>
            <a:ext cx="146304" cy="146304"/>
          </a:xfrm>
          <a:prstGeom prst="rect">
            <a:avLst/>
          </a:prstGeom>
        </p:spPr>
      </p:pic>
      <p:sp>
        <p:nvSpPr>
          <p:cNvPr id="30" name="Text 18"/>
          <p:cNvSpPr txBox="1"/>
          <p:nvPr/>
        </p:nvSpPr>
        <p:spPr>
          <a:xfrm>
            <a:off x="7141464" y="431596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F5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No relationships between entries</a:t>
            </a:r>
            <a:endParaRPr lang="en-US" sz="1150" dirty="0"/>
          </a:p>
        </p:txBody>
      </p:sp>
      <p:sp>
        <p:nvSpPr>
          <p:cNvPr id="31" name="Text 19"/>
          <p:cNvSpPr txBox="1"/>
          <p:nvPr/>
        </p:nvSpPr>
        <p:spPr>
          <a:xfrm>
            <a:off x="5577840" y="3072384"/>
            <a:ext cx="941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69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+</a:t>
            </a:r>
            <a:endParaRPr lang="en-US" sz="3000" dirty="0"/>
          </a:p>
        </p:txBody>
      </p:sp>
      <p:sp>
        <p:nvSpPr>
          <p:cNvPr id="32" name="Shape 20"/>
          <p:cNvSpPr/>
          <p:nvPr/>
        </p:nvSpPr>
        <p:spPr>
          <a:xfrm>
            <a:off x="640080" y="4901184"/>
            <a:ext cx="10911535" cy="1371600"/>
          </a:xfrm>
          <a:prstGeom prst="roundRect">
            <a:avLst>
              <a:gd name="adj" fmla="val 6667"/>
            </a:avLst>
          </a:prstGeom>
          <a:solidFill>
            <a:srgbClr val="2A2818"/>
          </a:solidFill>
          <a:ln w="12700">
            <a:solidFill>
              <a:srgbClr val="3C392C"/>
            </a:solidFill>
            <a:prstDash val="solid"/>
          </a:ln>
        </p:spPr>
      </p:sp>
      <p:sp>
        <p:nvSpPr>
          <p:cNvPr id="33" name="Text 21"/>
          <p:cNvSpPr txBox="1"/>
          <p:nvPr/>
        </p:nvSpPr>
        <p:spPr>
          <a:xfrm>
            <a:off x="932688" y="506577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4D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WHAT OUR API RETURNS INSTEAD</a:t>
            </a:r>
            <a:endParaRPr lang="en-US" sz="950" dirty="0"/>
          </a:p>
        </p:txBody>
      </p:sp>
      <p:sp>
        <p:nvSpPr>
          <p:cNvPr id="34" name="Text 22"/>
          <p:cNvSpPr txBox="1"/>
          <p:nvPr/>
        </p:nvSpPr>
        <p:spPr>
          <a:xfrm>
            <a:off x="932688" y="5340096"/>
            <a:ext cx="1032631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8E2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{ "name": "Luke Skywalker",  "height": "172",  "birth_year": "19BBY",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8E2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"homeworld": "1",  "films": ["1","2","3"],  "starships": ["12","22"],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8E2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"databank": { "title": "Luke Skywalker", "description": "...", "images": { ... } } }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3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20" kern="0" dirty="0">
                <a:solidFill>
                  <a:srgbClr val="4D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07  //  THE HARD PART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spc="60" kern="0" dirty="0">
                <a:solidFill>
                  <a:srgbClr val="E8E2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Teaching two databases to agree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69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The two sources spell the same thing differently. A three-tier matcher resolves the drift, most confident tier first.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139696"/>
            <a:ext cx="3465576" cy="2286000"/>
          </a:xfrm>
          <a:prstGeom prst="roundRect">
            <a:avLst>
              <a:gd name="adj" fmla="val 4000"/>
            </a:avLst>
          </a:prstGeom>
          <a:solidFill>
            <a:srgbClr val="1E1C10"/>
          </a:solidFill>
          <a:ln w="12700">
            <a:solidFill>
              <a:srgbClr val="3C392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7824" y="2340864"/>
            <a:ext cx="402336" cy="402336"/>
          </a:xfrm>
          <a:prstGeom prst="ellipse">
            <a:avLst/>
          </a:prstGeom>
          <a:solidFill>
            <a:srgbClr val="FFE81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77824" y="23408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13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1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408176" y="2359152"/>
            <a:ext cx="2459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20" kern="0" dirty="0">
                <a:solidFill>
                  <a:srgbClr val="E8E2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EXACT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77824" y="2834640"/>
            <a:ext cx="2990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69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Identical once normalised — case, punctuation and even spaces removed.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77824" y="3474720"/>
            <a:ext cx="2990088" cy="786384"/>
          </a:xfrm>
          <a:prstGeom prst="roundRect">
            <a:avLst>
              <a:gd name="adj" fmla="val 6977"/>
            </a:avLst>
          </a:prstGeom>
          <a:solidFill>
            <a:srgbClr val="2A281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87552" y="3529584"/>
            <a:ext cx="27706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FFE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"Sand Crawler"</a:t>
            </a:r>
            <a:endParaRPr lang="en-US" sz="100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FFE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==</a:t>
            </a:r>
            <a:endParaRPr lang="en-US" sz="100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FFE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"Sandcrawler"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61688" y="2139696"/>
            <a:ext cx="3465576" cy="2286000"/>
          </a:xfrm>
          <a:prstGeom prst="roundRect">
            <a:avLst>
              <a:gd name="adj" fmla="val 4000"/>
            </a:avLst>
          </a:prstGeom>
          <a:solidFill>
            <a:srgbClr val="1E1C10"/>
          </a:solidFill>
          <a:ln w="12700">
            <a:solidFill>
              <a:srgbClr val="3C392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99432" y="2340864"/>
            <a:ext cx="402336" cy="402336"/>
          </a:xfrm>
          <a:prstGeom prst="ellipse">
            <a:avLst/>
          </a:prstGeom>
          <a:solidFill>
            <a:srgbClr val="FFE81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599432" y="23408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13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2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129784" y="2359152"/>
            <a:ext cx="2459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20" kern="0" dirty="0">
                <a:solidFill>
                  <a:srgbClr val="E8E2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CONTAINS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599432" y="2834640"/>
            <a:ext cx="2990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69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One title fully contains the other, so the longer name is just more specific.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99432" y="3474720"/>
            <a:ext cx="2990088" cy="786384"/>
          </a:xfrm>
          <a:prstGeom prst="roundRect">
            <a:avLst>
              <a:gd name="adj" fmla="val 6977"/>
            </a:avLst>
          </a:prstGeom>
          <a:solidFill>
            <a:srgbClr val="2A281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709160" y="3529584"/>
            <a:ext cx="27706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FFE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"C-3PO"</a:t>
            </a:r>
            <a:endParaRPr lang="en-US" sz="100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FFE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within</a:t>
            </a:r>
            <a:endParaRPr lang="en-US" sz="100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FFE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"C-3PO (See-Threepio)"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083296" y="2139696"/>
            <a:ext cx="3465576" cy="2286000"/>
          </a:xfrm>
          <a:prstGeom prst="roundRect">
            <a:avLst>
              <a:gd name="adj" fmla="val 4000"/>
            </a:avLst>
          </a:prstGeom>
          <a:solidFill>
            <a:srgbClr val="1E1C10"/>
          </a:solidFill>
          <a:ln w="12700">
            <a:solidFill>
              <a:srgbClr val="3C392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21040" y="2340864"/>
            <a:ext cx="402336" cy="402336"/>
          </a:xfrm>
          <a:prstGeom prst="ellipse">
            <a:avLst/>
          </a:prstGeom>
          <a:solidFill>
            <a:srgbClr val="FFE81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321040" y="23408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13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3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8851392" y="2359152"/>
            <a:ext cx="2459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20" kern="0" dirty="0">
                <a:solidFill>
                  <a:srgbClr val="E8E2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TOKEN OVERLAP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321040" y="2834640"/>
            <a:ext cx="2990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69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Every significant word of the shorter name appears inside the longer one.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321040" y="3474720"/>
            <a:ext cx="2990088" cy="786384"/>
          </a:xfrm>
          <a:prstGeom prst="roundRect">
            <a:avLst>
              <a:gd name="adj" fmla="val 6977"/>
            </a:avLst>
          </a:prstGeom>
          <a:solidFill>
            <a:srgbClr val="2A2818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430768" y="3529584"/>
            <a:ext cx="27706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FFE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"Naboo fighter"</a:t>
            </a:r>
            <a:endParaRPr lang="en-US" sz="100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FFE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--&gt;</a:t>
            </a:r>
            <a:endParaRPr lang="en-US" sz="100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FFE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"Naboo N-1 Starfighter"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0080" y="4626864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1E1C10"/>
          </a:solidFill>
          <a:ln w="12700">
            <a:solidFill>
              <a:srgbClr val="3C392C"/>
            </a:solidFill>
            <a:prstDash val="solid"/>
          </a:ln>
        </p:spPr>
      </p:sp>
      <p:pic>
        <p:nvPicPr>
          <p:cNvPr id="27" name="Image 0" descr="/private/tmp/claude-501/-Users-eliseogomez-Documents-SWAPP-StarWarsWikiApp-StarWarsWiki/6ca98190-2482-4349-b17c-5c014630cb6d/scratchpad/icons/times-tex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4809744"/>
            <a:ext cx="219456" cy="219456"/>
          </a:xfrm>
          <a:prstGeom prst="rect">
            <a:avLst/>
          </a:prstGeom>
        </p:spPr>
      </p:pic>
      <p:sp>
        <p:nvSpPr>
          <p:cNvPr id="28" name="Text 25"/>
          <p:cNvSpPr txBox="1"/>
          <p:nvPr/>
        </p:nvSpPr>
        <p:spPr>
          <a:xfrm>
            <a:off x="1261872" y="4791456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FF5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A guardrail against false friends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914400" y="5120640"/>
            <a:ext cx="4800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969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"Slave 1" once matched "Zygerrian Slave Ship" on the single word slave. The third tier now demands at least two agreeing words, and the match is correctly rejected.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6263640" y="4626864"/>
            <a:ext cx="5285232" cy="1371600"/>
          </a:xfrm>
          <a:prstGeom prst="roundRect">
            <a:avLst>
              <a:gd name="adj" fmla="val 6667"/>
            </a:avLst>
          </a:prstGeom>
          <a:solidFill>
            <a:srgbClr val="1E1C10"/>
          </a:solidFill>
          <a:ln w="12700">
            <a:solidFill>
              <a:srgbClr val="3C392C"/>
            </a:solidFill>
            <a:prstDash val="solid"/>
          </a:ln>
        </p:spPr>
      </p:sp>
      <p:pic>
        <p:nvPicPr>
          <p:cNvPr id="31" name="Image 1" descr="/private/tmp/claude-501/-Users-eliseogomez-Documents-SWAPP-StarWarsWikiApp-StarWarsWiki/6ca98190-2482-4349-b17c-5c014630cb6d/scratchpad/icons/bars-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4809744"/>
            <a:ext cx="219456" cy="219456"/>
          </a:xfrm>
          <a:prstGeom prst="rect">
            <a:avLst/>
          </a:prstGeom>
        </p:spPr>
      </p:pic>
      <p:sp>
        <p:nvSpPr>
          <p:cNvPr id="32" name="Text 28"/>
          <p:cNvSpPr txBox="1"/>
          <p:nvPr/>
        </p:nvSpPr>
        <p:spPr>
          <a:xfrm>
            <a:off x="6885432" y="4791456"/>
            <a:ext cx="4370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4D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A normaliser for Imperial spelling</a:t>
            </a:r>
            <a:endParaRPr lang="en-US" sz="1300" dirty="0"/>
          </a:p>
        </p:txBody>
      </p:sp>
      <p:sp>
        <p:nvSpPr>
          <p:cNvPr id="33" name="Text 29"/>
          <p:cNvSpPr txBox="1"/>
          <p:nvPr/>
        </p:nvSpPr>
        <p:spPr>
          <a:xfrm>
            <a:off x="6537960" y="5120640"/>
            <a:ext cx="47365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969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SWAPI writes "Yavin IV"; the Databank writes "Yavin 4". Roman numerals are converted to digits per word before comparison — so they line up, and "X-wing" is left untouched.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3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20" kern="0" dirty="0">
                <a:solidFill>
                  <a:srgbClr val="4D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08  //  RELATIONSHIPS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spc="60" kern="0" dirty="0">
                <a:solidFill>
                  <a:srgbClr val="E8E2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From URLs to IDs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69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SWAPI answers with links to itself. We rewrite them as ids that point back into our own API.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577840" cy="1700784"/>
          </a:xfrm>
          <a:prstGeom prst="roundRect">
            <a:avLst>
              <a:gd name="adj" fmla="val 5376"/>
            </a:avLst>
          </a:prstGeom>
          <a:solidFill>
            <a:srgbClr val="1E1C10"/>
          </a:solidFill>
          <a:ln w="12700">
            <a:solidFill>
              <a:srgbClr val="3C392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30428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FF5C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WHAT SWAPI SENDS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596896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96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"films": [</a:t>
            </a:r>
            <a:endParaRPr lang="en-US" sz="1050" dirty="0"/>
          </a:p>
          <a:p>
            <a:pPr algn="l"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96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"https://swapi.dev/api/films/1/",</a:t>
            </a:r>
            <a:endParaRPr lang="en-US" sz="1050" dirty="0"/>
          </a:p>
          <a:p>
            <a:pPr algn="l"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96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"https://swapi.dev/api/films/2/"</a:t>
            </a:r>
            <a:endParaRPr lang="en-US" sz="1050" dirty="0"/>
          </a:p>
          <a:p>
            <a:pPr algn="l"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96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]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3950208"/>
            <a:ext cx="5577840" cy="1700784"/>
          </a:xfrm>
          <a:prstGeom prst="roundRect">
            <a:avLst>
              <a:gd name="adj" fmla="val 5376"/>
            </a:avLst>
          </a:prstGeom>
          <a:solidFill>
            <a:srgbClr val="1E1C10"/>
          </a:solidFill>
          <a:ln w="12700">
            <a:solidFill>
              <a:srgbClr val="3C392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4400" y="415137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4D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WHAT WE STORE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4443984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FFE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"films": ["1", "2"]</a:t>
            </a:r>
            <a:endParaRPr lang="en-US" sz="1050" dirty="0"/>
          </a:p>
          <a:p>
            <a:pPr algn="l" indent="0" marL="0">
              <a:lnSpc>
                <a:spcPct val="126000"/>
              </a:lnSpc>
              <a:buNone/>
            </a:pPr>
            <a:endParaRPr lang="en-US" sz="1050" dirty="0"/>
          </a:p>
          <a:p>
            <a:pPr algn="l"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FFE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GET /api/swapi/films/1</a:t>
            </a:r>
            <a:endParaRPr lang="en-US" sz="1050" dirty="0"/>
          </a:p>
          <a:p>
            <a:pPr algn="l"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FFE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GET /api/swapi/planets/1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779008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69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The payload shrinks, and every screen in the app can jump to any related record with a single, predictable call.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9098280" y="3794760"/>
            <a:ext cx="1691640" cy="0"/>
          </a:xfrm>
          <a:prstGeom prst="line">
            <a:avLst/>
          </a:prstGeom>
          <a:noFill/>
          <a:ln w="15875">
            <a:solidFill>
              <a:srgbClr val="3C392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098280" y="3794760"/>
            <a:ext cx="0" cy="1325880"/>
          </a:xfrm>
          <a:prstGeom prst="line">
            <a:avLst/>
          </a:prstGeom>
          <a:noFill/>
          <a:ln w="15875">
            <a:solidFill>
              <a:srgbClr val="3C392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H="1">
            <a:off x="7406640" y="3794760"/>
            <a:ext cx="1691640" cy="0"/>
          </a:xfrm>
          <a:prstGeom prst="line">
            <a:avLst/>
          </a:prstGeom>
          <a:noFill/>
          <a:ln w="15875">
            <a:solidFill>
              <a:srgbClr val="3C392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9098280" y="2468880"/>
            <a:ext cx="0" cy="1325880"/>
          </a:xfrm>
          <a:prstGeom prst="line">
            <a:avLst/>
          </a:prstGeom>
          <a:noFill/>
          <a:ln w="15875">
            <a:solidFill>
              <a:srgbClr val="3C392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03920" y="3200400"/>
            <a:ext cx="1188720" cy="1188720"/>
          </a:xfrm>
          <a:prstGeom prst="ellipse">
            <a:avLst/>
          </a:prstGeom>
          <a:solidFill>
            <a:srgbClr val="FFE81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503920" y="32004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13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CHARACTER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0104120" y="3566160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1E1C10"/>
          </a:solidFill>
          <a:ln w="12700">
            <a:solidFill>
              <a:srgbClr val="3C392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104120" y="35661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D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FILMS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412480" y="4892040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1E1C10"/>
          </a:solidFill>
          <a:ln w="12700">
            <a:solidFill>
              <a:srgbClr val="3C392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412480" y="48920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D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STARSHIPS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720840" y="3566160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1E1C10"/>
          </a:solidFill>
          <a:ln w="12700">
            <a:solidFill>
              <a:srgbClr val="3C392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720840" y="35661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D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PLANETS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412480" y="2240280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1E1C10"/>
          </a:solidFill>
          <a:ln w="12700">
            <a:solidFill>
              <a:srgbClr val="3C392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412480" y="22402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D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VEHICLES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6766560" y="5779008"/>
            <a:ext cx="4782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969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Every entity cross-references every other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3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20" kern="0" dirty="0">
                <a:solidFill>
                  <a:srgbClr val="4D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09  //  MOBILE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spc="60" kern="0" dirty="0">
                <a:solidFill>
                  <a:srgbClr val="E8E2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Screens that build themselves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69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Five categories, ten screens — driven by two shared components and one config file.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212080" cy="3749040"/>
          </a:xfrm>
          <a:prstGeom prst="roundRect">
            <a:avLst>
              <a:gd name="adj" fmla="val 2439"/>
            </a:avLst>
          </a:prstGeom>
          <a:solidFill>
            <a:srgbClr val="1E1C10"/>
          </a:solidFill>
          <a:ln w="12700">
            <a:solidFill>
              <a:srgbClr val="3C392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2322576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4D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APP/  —  FILE-BASED ROUTING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932688" y="2633472"/>
            <a:ext cx="4663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E8E2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_layout.tsx          providers</a:t>
            </a:r>
            <a:endParaRPr lang="en-US" sz="105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E8E2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(tabs)/_layout.tsx   the tab bar</a:t>
            </a:r>
            <a:endParaRPr lang="en-US" sz="105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E8E2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(tabs)/characters/index.tsx</a:t>
            </a:r>
            <a:endParaRPr lang="en-US" sz="105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E8E2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(tabs)/films/index.tsx</a:t>
            </a:r>
            <a:endParaRPr lang="en-US" sz="105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E8E2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(tabs)/starships/index.tsx</a:t>
            </a:r>
            <a:endParaRPr lang="en-US" sz="105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E8E2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(tabs)/vehicles/index.tsx</a:t>
            </a:r>
            <a:endParaRPr lang="en-US" sz="105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E8E2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(tabs)/planets/index.tsx</a:t>
            </a:r>
            <a:endParaRPr lang="en-US" sz="105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E8E2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characters/[id].tsx</a:t>
            </a:r>
            <a:endParaRPr lang="en-US" sz="105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E8E2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films/[id].tsx</a:t>
            </a:r>
            <a:endParaRPr lang="en-US" sz="105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E8E2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starships/[id].tsx</a:t>
            </a:r>
            <a:endParaRPr lang="en-US" sz="105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E8E2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vehicles/[id].tsx</a:t>
            </a:r>
            <a:endParaRPr lang="en-US" sz="105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E8E2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planets/[id].tsx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108192" y="2103120"/>
            <a:ext cx="5440680" cy="1170432"/>
          </a:xfrm>
          <a:prstGeom prst="roundRect">
            <a:avLst>
              <a:gd name="adj" fmla="val 7813"/>
            </a:avLst>
          </a:prstGeom>
          <a:solidFill>
            <a:srgbClr val="1E1C10"/>
          </a:solidFill>
          <a:ln w="12700">
            <a:solidFill>
              <a:srgbClr val="3C392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64224" y="2331720"/>
            <a:ext cx="402336" cy="402336"/>
          </a:xfrm>
          <a:prstGeom prst="ellipse">
            <a:avLst/>
          </a:prstGeom>
          <a:solidFill>
            <a:srgbClr val="FFE81F"/>
          </a:solidFill>
          <a:ln/>
        </p:spPr>
      </p:sp>
      <p:pic>
        <p:nvPicPr>
          <p:cNvPr id="10" name="Image 0" descr="/private/tmp/claude-501/-Users-eliseogomez-Documents-SWAPP-StarWarsWikiApp-StarWarsWiki/6ca98190-2482-4349-b17c-5c014630cb6d/scratchpad/icons/puzzle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64808" y="2432304"/>
            <a:ext cx="201168" cy="201168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6894576" y="2304288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E8E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Two components, ten screens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6894576" y="2596896"/>
            <a:ext cx="4434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969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CategoryListScreen and CategoryDetailScreen take a category name and render the right thing. Each route file is four lines long.</a:t>
            </a:r>
            <a:endParaRPr lang="en-US" sz="1080" dirty="0"/>
          </a:p>
        </p:txBody>
      </p:sp>
      <p:sp>
        <p:nvSpPr>
          <p:cNvPr id="13" name="Shape 10"/>
          <p:cNvSpPr/>
          <p:nvPr/>
        </p:nvSpPr>
        <p:spPr>
          <a:xfrm>
            <a:off x="6108192" y="3401568"/>
            <a:ext cx="5440680" cy="1170432"/>
          </a:xfrm>
          <a:prstGeom prst="roundRect">
            <a:avLst>
              <a:gd name="adj" fmla="val 7813"/>
            </a:avLst>
          </a:prstGeom>
          <a:solidFill>
            <a:srgbClr val="1E1C10"/>
          </a:solidFill>
          <a:ln w="12700">
            <a:solidFill>
              <a:srgbClr val="3C392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364224" y="3630168"/>
            <a:ext cx="402336" cy="402336"/>
          </a:xfrm>
          <a:prstGeom prst="ellipse">
            <a:avLst/>
          </a:prstGeom>
          <a:solidFill>
            <a:srgbClr val="FFE81F"/>
          </a:solidFill>
          <a:ln/>
        </p:spPr>
      </p:sp>
      <p:pic>
        <p:nvPicPr>
          <p:cNvPr id="15" name="Image 1" descr="/private/tmp/claude-501/-Users-eliseogomez-Documents-SWAPP-StarWarsWikiApp-StarWarsWiki/6ca98190-2482-4349-b17c-5c014630cb6d/scratchpad/icons/bars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4808" y="3730752"/>
            <a:ext cx="201168" cy="201168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6894576" y="3602736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E8E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One config drives the differences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6894576" y="3895344"/>
            <a:ext cx="4434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969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Titles, search placeholders, tab icons and image aspect ratios all live in a single CATEGORY_UI map — films get posters, starships get widescreen.</a:t>
            </a:r>
            <a:endParaRPr lang="en-US" sz="1080" dirty="0"/>
          </a:p>
        </p:txBody>
      </p:sp>
      <p:sp>
        <p:nvSpPr>
          <p:cNvPr id="18" name="Shape 14"/>
          <p:cNvSpPr/>
          <p:nvPr/>
        </p:nvSpPr>
        <p:spPr>
          <a:xfrm>
            <a:off x="6108192" y="4700016"/>
            <a:ext cx="5440680" cy="1170432"/>
          </a:xfrm>
          <a:prstGeom prst="roundRect">
            <a:avLst>
              <a:gd name="adj" fmla="val 7813"/>
            </a:avLst>
          </a:prstGeom>
          <a:solidFill>
            <a:srgbClr val="1E1C10"/>
          </a:solidFill>
          <a:ln w="12700">
            <a:solidFill>
              <a:srgbClr val="3C392C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364224" y="4928616"/>
            <a:ext cx="402336" cy="402336"/>
          </a:xfrm>
          <a:prstGeom prst="ellipse">
            <a:avLst/>
          </a:prstGeom>
          <a:solidFill>
            <a:srgbClr val="FFE81F"/>
          </a:solidFill>
          <a:ln/>
        </p:spPr>
      </p:sp>
      <p:pic>
        <p:nvPicPr>
          <p:cNvPr id="20" name="Image 2" descr="/private/tmp/claude-501/-Users-eliseogomez-Documents-SWAPP-StarWarsWikiApp-StarWarsWiki/6ca98190-2482-4349-b17c-5c014630cb6d/scratchpad/icons/bolt-d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4808" y="5029200"/>
            <a:ext cx="201168" cy="201168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894576" y="4901184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E8E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Infinite scroll and instant search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6894576" y="5193792"/>
            <a:ext cx="4434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969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React Query paginates as you scroll and keeps every page cached; typing is debounced so the API is not hit on every keystroke.</a:t>
            </a:r>
            <a:endParaRPr lang="en-US" sz="1080" dirty="0"/>
          </a:p>
        </p:txBody>
      </p:sp>
      <p:sp>
        <p:nvSpPr>
          <p:cNvPr id="23" name="Text 18"/>
          <p:cNvSpPr txBox="1"/>
          <p:nvPr/>
        </p:nvSpPr>
        <p:spPr>
          <a:xfrm>
            <a:off x="6108192" y="5998464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4D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Adding a sixth category would mean one config entry and two four-line route files.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3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20" kern="0" dirty="0">
                <a:solidFill>
                  <a:srgbClr val="4D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10  //  END TO END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spc="60" kern="0" dirty="0">
                <a:solidFill>
                  <a:srgbClr val="E8E2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What happens when you tap a card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69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Six steps, roughly a few hundred milliseconds — and often zero of them, because the answer is already cached.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176272"/>
            <a:ext cx="3465576" cy="1664208"/>
          </a:xfrm>
          <a:prstGeom prst="roundRect">
            <a:avLst>
              <a:gd name="adj" fmla="val 5495"/>
            </a:avLst>
          </a:prstGeom>
          <a:solidFill>
            <a:srgbClr val="1E1C10"/>
          </a:solidFill>
          <a:ln w="12700">
            <a:solidFill>
              <a:srgbClr val="3C392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7824" y="2395728"/>
            <a:ext cx="402336" cy="402336"/>
          </a:xfrm>
          <a:prstGeom prst="ellipse">
            <a:avLst/>
          </a:prstGeom>
          <a:solidFill>
            <a:srgbClr val="FFE81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77824" y="23957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13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1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408176" y="2414016"/>
            <a:ext cx="2459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E8E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You tap Darth Vader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877824" y="2926080"/>
            <a:ext cx="299008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969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Expo Router opens characters/[id] and passes the id along.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61688" y="2176272"/>
            <a:ext cx="3465576" cy="1664208"/>
          </a:xfrm>
          <a:prstGeom prst="roundRect">
            <a:avLst>
              <a:gd name="adj" fmla="val 5495"/>
            </a:avLst>
          </a:prstGeom>
          <a:solidFill>
            <a:srgbClr val="1E1C10"/>
          </a:solidFill>
          <a:ln w="12700">
            <a:solidFill>
              <a:srgbClr val="3C392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99432" y="2395728"/>
            <a:ext cx="402336" cy="402336"/>
          </a:xfrm>
          <a:prstGeom prst="ellipse">
            <a:avLst/>
          </a:prstGeom>
          <a:solidFill>
            <a:srgbClr val="FFE81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99432" y="23957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13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2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129784" y="2414016"/>
            <a:ext cx="2459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E8E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React Query checks its cache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4599432" y="2926080"/>
            <a:ext cx="299008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969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If the record was fetched recently it renders instantly, with no network call at all.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83296" y="2176272"/>
            <a:ext cx="3465576" cy="1664208"/>
          </a:xfrm>
          <a:prstGeom prst="roundRect">
            <a:avLst>
              <a:gd name="adj" fmla="val 5495"/>
            </a:avLst>
          </a:prstGeom>
          <a:solidFill>
            <a:srgbClr val="1E1C10"/>
          </a:solidFill>
          <a:ln w="12700">
            <a:solidFill>
              <a:srgbClr val="3C392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21040" y="2395728"/>
            <a:ext cx="402336" cy="402336"/>
          </a:xfrm>
          <a:prstGeom prst="ellipse">
            <a:avLst/>
          </a:prstGeom>
          <a:solidFill>
            <a:srgbClr val="FFE81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321040" y="23957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13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3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8851392" y="2414016"/>
            <a:ext cx="2459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E8E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The app calls our API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8321040" y="2926080"/>
            <a:ext cx="299008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969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A plain fetch to GET /api/swapi/people/4, with the base URL from an environment variable.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4059936"/>
            <a:ext cx="3465576" cy="1664208"/>
          </a:xfrm>
          <a:prstGeom prst="roundRect">
            <a:avLst>
              <a:gd name="adj" fmla="val 5495"/>
            </a:avLst>
          </a:prstGeom>
          <a:solidFill>
            <a:srgbClr val="1E1C10"/>
          </a:solidFill>
          <a:ln w="12700">
            <a:solidFill>
              <a:srgbClr val="3C392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77824" y="4279392"/>
            <a:ext cx="402336" cy="402336"/>
          </a:xfrm>
          <a:prstGeom prst="ellipse">
            <a:avLst/>
          </a:prstGeom>
          <a:solidFill>
            <a:srgbClr val="4DF0F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77824" y="42793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13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4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1408176" y="4297680"/>
            <a:ext cx="2459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E8E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Fastify serves the route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877824" y="4809744"/>
            <a:ext cx="299008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969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The query is validated against a Zod schema before any work begins.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361688" y="4059936"/>
            <a:ext cx="3465576" cy="1664208"/>
          </a:xfrm>
          <a:prstGeom prst="roundRect">
            <a:avLst>
              <a:gd name="adj" fmla="val 5495"/>
            </a:avLst>
          </a:prstGeom>
          <a:solidFill>
            <a:srgbClr val="1E1C10"/>
          </a:solidFill>
          <a:ln w="12700">
            <a:solidFill>
              <a:srgbClr val="3C392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99432" y="4279392"/>
            <a:ext cx="402336" cy="402336"/>
          </a:xfrm>
          <a:prstGeom prst="ellipse">
            <a:avLst/>
          </a:prstGeom>
          <a:solidFill>
            <a:srgbClr val="4DF0F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599432" y="42793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13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5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5129784" y="4297680"/>
            <a:ext cx="2459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E8E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The service merges sources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4599432" y="4809744"/>
            <a:ext cx="299008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969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SWAPI is fetched live, reference URLs become ids, and the matcher finds the Databank entry.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083296" y="4059936"/>
            <a:ext cx="3465576" cy="1664208"/>
          </a:xfrm>
          <a:prstGeom prst="roundRect">
            <a:avLst>
              <a:gd name="adj" fmla="val 5495"/>
            </a:avLst>
          </a:prstGeom>
          <a:solidFill>
            <a:srgbClr val="1E1C10"/>
          </a:solidFill>
          <a:ln w="12700">
            <a:solidFill>
              <a:srgbClr val="3C392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321040" y="4279392"/>
            <a:ext cx="402336" cy="402336"/>
          </a:xfrm>
          <a:prstGeom prst="ellipse">
            <a:avLst/>
          </a:prstGeom>
          <a:solidFill>
            <a:srgbClr val="4DF0FF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321040" y="42793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13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6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8851392" y="4297680"/>
            <a:ext cx="2459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E8E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The app validates and renders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8321040" y="4809744"/>
            <a:ext cx="299008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969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The response is parsed with Zod again on the device, then drawn as stats, artwork and related links.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3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20" kern="0" dirty="0">
                <a:solidFill>
                  <a:srgbClr val="4D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11  //  TECHNOLOGY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spc="60" kern="0" dirty="0">
                <a:solidFill>
                  <a:srgbClr val="E8E2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The stack, and why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3465576" cy="4791456"/>
          </a:xfrm>
          <a:prstGeom prst="roundRect">
            <a:avLst>
              <a:gd name="adj" fmla="val 2639"/>
            </a:avLst>
          </a:prstGeom>
          <a:solidFill>
            <a:srgbClr val="1E1C10"/>
          </a:solidFill>
          <a:ln w="12700">
            <a:solidFill>
              <a:srgbClr val="3C392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1810512"/>
            <a:ext cx="457200" cy="457200"/>
          </a:xfrm>
          <a:prstGeom prst="ellipse">
            <a:avLst/>
          </a:prstGeom>
          <a:solidFill>
            <a:srgbClr val="FFE81F"/>
          </a:solidFill>
          <a:ln/>
        </p:spPr>
      </p:sp>
      <p:pic>
        <p:nvPicPr>
          <p:cNvPr id="6" name="Image 0" descr="/private/tmp/claude-501/-Users-eliseogomez-Documents-SWAPP-StarWarsWikiApp-StarWarsWiki/6ca98190-2482-4349-b17c-5c014630cb6d/scratchpad/icons/server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0412" y="1924812"/>
            <a:ext cx="228600" cy="228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44752" y="181051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20" kern="0" dirty="0">
                <a:solidFill>
                  <a:srgbClr val="E8E2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BACKEND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96112" y="2450592"/>
            <a:ext cx="2953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E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Fastify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896112" y="2706624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969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HTTP framework — fast, plugin-based, TypeScript-first.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896112" y="3209544"/>
            <a:ext cx="2953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E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Zod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896112" y="3465576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969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One schema validates the request and types the response.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896112" y="3968496"/>
            <a:ext cx="2953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E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Swagger UI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896112" y="4224528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969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Interactive API docs, generated from those schemas.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896112" y="4727448"/>
            <a:ext cx="2953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E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tsx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896112" y="4983480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969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Runs TypeScript directly with hot reload in development.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896112" y="5486400"/>
            <a:ext cx="2953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E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Jest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896112" y="5742432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969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96 unit and integration tests over matching and routes.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361688" y="1572768"/>
            <a:ext cx="3465576" cy="4791456"/>
          </a:xfrm>
          <a:prstGeom prst="roundRect">
            <a:avLst>
              <a:gd name="adj" fmla="val 2639"/>
            </a:avLst>
          </a:prstGeom>
          <a:solidFill>
            <a:srgbClr val="1E1C10"/>
          </a:solidFill>
          <a:ln w="12700">
            <a:solidFill>
              <a:srgbClr val="3C392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617720" y="1810512"/>
            <a:ext cx="457200" cy="457200"/>
          </a:xfrm>
          <a:prstGeom prst="ellipse">
            <a:avLst/>
          </a:prstGeom>
          <a:solidFill>
            <a:srgbClr val="FFE81F"/>
          </a:solidFill>
          <a:ln/>
        </p:spPr>
      </p:sp>
      <p:pic>
        <p:nvPicPr>
          <p:cNvPr id="20" name="Image 1" descr="/private/tmp/claude-501/-Users-eliseogomez-Documents-SWAPP-StarWarsWikiApp-StarWarsWiki/6ca98190-2482-4349-b17c-5c014630cb6d/scratchpad/icons/mobile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2020" y="1924812"/>
            <a:ext cx="228600" cy="228600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5166360" y="181051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20" kern="0" dirty="0">
                <a:solidFill>
                  <a:srgbClr val="E8E2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MOBILE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4617720" y="2450592"/>
            <a:ext cx="2953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E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Expo</a:t>
            </a:r>
            <a:endParaRPr lang="en-US" sz="1150" dirty="0"/>
          </a:p>
        </p:txBody>
      </p:sp>
      <p:sp>
        <p:nvSpPr>
          <p:cNvPr id="23" name="Text 19"/>
          <p:cNvSpPr txBox="1"/>
          <p:nvPr/>
        </p:nvSpPr>
        <p:spPr>
          <a:xfrm>
            <a:off x="4617720" y="2706624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969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Build, run and ship to iOS, Android and web from one codebase.</a:t>
            </a:r>
            <a:endParaRPr lang="en-US" sz="1050" dirty="0"/>
          </a:p>
        </p:txBody>
      </p:sp>
      <p:sp>
        <p:nvSpPr>
          <p:cNvPr id="24" name="Text 20"/>
          <p:cNvSpPr txBox="1"/>
          <p:nvPr/>
        </p:nvSpPr>
        <p:spPr>
          <a:xfrm>
            <a:off x="4617720" y="3209544"/>
            <a:ext cx="2953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E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Expo Router</a:t>
            </a:r>
            <a:endParaRPr lang="en-US" sz="1150" dirty="0"/>
          </a:p>
        </p:txBody>
      </p:sp>
      <p:sp>
        <p:nvSpPr>
          <p:cNvPr id="25" name="Text 21"/>
          <p:cNvSpPr txBox="1"/>
          <p:nvPr/>
        </p:nvSpPr>
        <p:spPr>
          <a:xfrm>
            <a:off x="4617720" y="3465576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969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Routes come from the folder structure, not a config file.</a:t>
            </a:r>
            <a:endParaRPr lang="en-US" sz="1050" dirty="0"/>
          </a:p>
        </p:txBody>
      </p:sp>
      <p:sp>
        <p:nvSpPr>
          <p:cNvPr id="26" name="Text 22"/>
          <p:cNvSpPr txBox="1"/>
          <p:nvPr/>
        </p:nvSpPr>
        <p:spPr>
          <a:xfrm>
            <a:off x="4617720" y="3968496"/>
            <a:ext cx="2953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E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React Query</a:t>
            </a:r>
            <a:endParaRPr lang="en-US" sz="1150" dirty="0"/>
          </a:p>
        </p:txBody>
      </p:sp>
      <p:sp>
        <p:nvSpPr>
          <p:cNvPr id="27" name="Text 23"/>
          <p:cNvSpPr txBox="1"/>
          <p:nvPr/>
        </p:nvSpPr>
        <p:spPr>
          <a:xfrm>
            <a:off x="4617720" y="4224528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969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Caching, pagination, loading and error states, handled.</a:t>
            </a:r>
            <a:endParaRPr lang="en-US" sz="1050" dirty="0"/>
          </a:p>
        </p:txBody>
      </p:sp>
      <p:sp>
        <p:nvSpPr>
          <p:cNvPr id="28" name="Text 24"/>
          <p:cNvSpPr txBox="1"/>
          <p:nvPr/>
        </p:nvSpPr>
        <p:spPr>
          <a:xfrm>
            <a:off x="4617720" y="4727448"/>
            <a:ext cx="2953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E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styled-components</a:t>
            </a:r>
            <a:endParaRPr lang="en-US" sz="1150" dirty="0"/>
          </a:p>
        </p:txBody>
      </p:sp>
      <p:sp>
        <p:nvSpPr>
          <p:cNvPr id="29" name="Text 25"/>
          <p:cNvSpPr txBox="1"/>
          <p:nvPr/>
        </p:nvSpPr>
        <p:spPr>
          <a:xfrm>
            <a:off x="4617720" y="4983480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969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Themed CSS-in-JS with typed design tokens.</a:t>
            </a:r>
            <a:endParaRPr lang="en-US" sz="1050" dirty="0"/>
          </a:p>
        </p:txBody>
      </p:sp>
      <p:sp>
        <p:nvSpPr>
          <p:cNvPr id="30" name="Text 26"/>
          <p:cNvSpPr txBox="1"/>
          <p:nvPr/>
        </p:nvSpPr>
        <p:spPr>
          <a:xfrm>
            <a:off x="4617720" y="5486400"/>
            <a:ext cx="2953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E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expo-image</a:t>
            </a:r>
            <a:endParaRPr lang="en-US" sz="1150" dirty="0"/>
          </a:p>
        </p:txBody>
      </p:sp>
      <p:sp>
        <p:nvSpPr>
          <p:cNvPr id="31" name="Text 27"/>
          <p:cNvSpPr txBox="1"/>
          <p:nvPr/>
        </p:nvSpPr>
        <p:spPr>
          <a:xfrm>
            <a:off x="4617720" y="5742432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969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Cached, progressive images for posters and artwork.</a:t>
            </a:r>
            <a:endParaRPr lang="en-US" sz="1050" dirty="0"/>
          </a:p>
        </p:txBody>
      </p:sp>
      <p:sp>
        <p:nvSpPr>
          <p:cNvPr id="32" name="Shape 28"/>
          <p:cNvSpPr/>
          <p:nvPr/>
        </p:nvSpPr>
        <p:spPr>
          <a:xfrm>
            <a:off x="8083296" y="1572768"/>
            <a:ext cx="3465576" cy="4791456"/>
          </a:xfrm>
          <a:prstGeom prst="roundRect">
            <a:avLst>
              <a:gd name="adj" fmla="val 2639"/>
            </a:avLst>
          </a:prstGeom>
          <a:solidFill>
            <a:srgbClr val="1E1C10"/>
          </a:solidFill>
          <a:ln w="12700">
            <a:solidFill>
              <a:srgbClr val="3C392C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8339328" y="1810512"/>
            <a:ext cx="457200" cy="457200"/>
          </a:xfrm>
          <a:prstGeom prst="ellipse">
            <a:avLst/>
          </a:prstGeom>
          <a:solidFill>
            <a:srgbClr val="FFE81F"/>
          </a:solidFill>
          <a:ln/>
        </p:spPr>
      </p:sp>
      <p:pic>
        <p:nvPicPr>
          <p:cNvPr id="34" name="Image 2" descr="/private/tmp/claude-501/-Users-eliseogomez-Documents-SWAPP-StarWarsWikiApp-StarWarsWiki/6ca98190-2482-4349-b17c-5c014630cb6d/scratchpad/icons/code-d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3628" y="1924812"/>
            <a:ext cx="228600" cy="228600"/>
          </a:xfrm>
          <a:prstGeom prst="rect">
            <a:avLst/>
          </a:prstGeom>
        </p:spPr>
      </p:pic>
      <p:sp>
        <p:nvSpPr>
          <p:cNvPr id="35" name="Text 30"/>
          <p:cNvSpPr txBox="1"/>
          <p:nvPr/>
        </p:nvSpPr>
        <p:spPr>
          <a:xfrm>
            <a:off x="8887968" y="181051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20" kern="0" dirty="0">
                <a:solidFill>
                  <a:srgbClr val="E8E2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SHARED &amp; TOOLING</a:t>
            </a:r>
            <a:endParaRPr lang="en-US" sz="1400" dirty="0"/>
          </a:p>
        </p:txBody>
      </p:sp>
      <p:sp>
        <p:nvSpPr>
          <p:cNvPr id="36" name="Text 31"/>
          <p:cNvSpPr txBox="1"/>
          <p:nvPr/>
        </p:nvSpPr>
        <p:spPr>
          <a:xfrm>
            <a:off x="8339328" y="2450592"/>
            <a:ext cx="2953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E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TypeScript (strict)</a:t>
            </a:r>
            <a:endParaRPr lang="en-US" sz="1150" dirty="0"/>
          </a:p>
        </p:txBody>
      </p:sp>
      <p:sp>
        <p:nvSpPr>
          <p:cNvPr id="37" name="Text 32"/>
          <p:cNvSpPr txBox="1"/>
          <p:nvPr/>
        </p:nvSpPr>
        <p:spPr>
          <a:xfrm>
            <a:off x="8339328" y="2706624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969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The same language and discipline on both sides.</a:t>
            </a:r>
            <a:endParaRPr lang="en-US" sz="1050" dirty="0"/>
          </a:p>
        </p:txBody>
      </p:sp>
      <p:sp>
        <p:nvSpPr>
          <p:cNvPr id="38" name="Text 33"/>
          <p:cNvSpPr txBox="1"/>
          <p:nvPr/>
        </p:nvSpPr>
        <p:spPr>
          <a:xfrm>
            <a:off x="8339328" y="3209544"/>
            <a:ext cx="2953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E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npm workspaces</a:t>
            </a:r>
            <a:endParaRPr lang="en-US" sz="1150" dirty="0"/>
          </a:p>
        </p:txBody>
      </p:sp>
      <p:sp>
        <p:nvSpPr>
          <p:cNvPr id="39" name="Text 34"/>
          <p:cNvSpPr txBox="1"/>
          <p:nvPr/>
        </p:nvSpPr>
        <p:spPr>
          <a:xfrm>
            <a:off x="8339328" y="3465576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969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One install, one lockfile, one lint configuration.</a:t>
            </a:r>
            <a:endParaRPr lang="en-US" sz="1050" dirty="0"/>
          </a:p>
        </p:txBody>
      </p:sp>
      <p:sp>
        <p:nvSpPr>
          <p:cNvPr id="40" name="Text 35"/>
          <p:cNvSpPr txBox="1"/>
          <p:nvPr/>
        </p:nvSpPr>
        <p:spPr>
          <a:xfrm>
            <a:off x="8339328" y="3968496"/>
            <a:ext cx="2953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E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Native fetch</a:t>
            </a:r>
            <a:endParaRPr lang="en-US" sz="1150" dirty="0"/>
          </a:p>
        </p:txBody>
      </p:sp>
      <p:sp>
        <p:nvSpPr>
          <p:cNvPr id="41" name="Text 36"/>
          <p:cNvSpPr txBox="1"/>
          <p:nvPr/>
        </p:nvSpPr>
        <p:spPr>
          <a:xfrm>
            <a:off x="8339328" y="4224528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969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No HTTP client dependency anywhere — no Axios.</a:t>
            </a:r>
            <a:endParaRPr lang="en-US" sz="1050" dirty="0"/>
          </a:p>
        </p:txBody>
      </p:sp>
      <p:sp>
        <p:nvSpPr>
          <p:cNvPr id="42" name="Text 37"/>
          <p:cNvSpPr txBox="1"/>
          <p:nvPr/>
        </p:nvSpPr>
        <p:spPr>
          <a:xfrm>
            <a:off x="8339328" y="4727448"/>
            <a:ext cx="2953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E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ESLint + Prettier</a:t>
            </a:r>
            <a:endParaRPr lang="en-US" sz="1150" dirty="0"/>
          </a:p>
        </p:txBody>
      </p:sp>
      <p:sp>
        <p:nvSpPr>
          <p:cNvPr id="43" name="Text 38"/>
          <p:cNvSpPr txBox="1"/>
          <p:nvPr/>
        </p:nvSpPr>
        <p:spPr>
          <a:xfrm>
            <a:off x="8339328" y="4983480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969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Style is settled by tooling, not by review.</a:t>
            </a:r>
            <a:endParaRPr lang="en-US" sz="1050" dirty="0"/>
          </a:p>
        </p:txBody>
      </p:sp>
      <p:sp>
        <p:nvSpPr>
          <p:cNvPr id="44" name="Text 39"/>
          <p:cNvSpPr txBox="1"/>
          <p:nvPr/>
        </p:nvSpPr>
        <p:spPr>
          <a:xfrm>
            <a:off x="8339328" y="5486400"/>
            <a:ext cx="2953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E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Husky</a:t>
            </a:r>
            <a:endParaRPr lang="en-US" sz="1150" dirty="0"/>
          </a:p>
        </p:txBody>
      </p:sp>
      <p:sp>
        <p:nvSpPr>
          <p:cNvPr id="45" name="Text 40"/>
          <p:cNvSpPr txBox="1"/>
          <p:nvPr/>
        </p:nvSpPr>
        <p:spPr>
          <a:xfrm>
            <a:off x="8339328" y="5742432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969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Pre-commit hooks lint and format only what changed.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3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20" kern="0" dirty="0">
                <a:solidFill>
                  <a:srgbClr val="4D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12  //  QUALITY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spc="60" kern="0" dirty="0">
                <a:solidFill>
                  <a:srgbClr val="E8E2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The safety net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69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Four layers that catch mistakes before anyone sees them.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121408"/>
            <a:ext cx="475488" cy="475488"/>
          </a:xfrm>
          <a:prstGeom prst="ellipse">
            <a:avLst/>
          </a:prstGeom>
          <a:solidFill>
            <a:srgbClr val="FFE81F"/>
          </a:solidFill>
          <a:ln/>
        </p:spPr>
      </p:sp>
      <p:pic>
        <p:nvPicPr>
          <p:cNvPr id="6" name="Image 0" descr="/private/tmp/claude-501/-Users-eliseogomez-Documents-SWAPP-StarWarsWikiApp-StarWarsWiki/6ca98190-2482-4349-b17c-5c014630cb6d/scratchpad/icons/flask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2240280"/>
            <a:ext cx="237744" cy="2377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71600" y="20848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450" b="1" dirty="0">
                <a:solidFill>
                  <a:srgbClr val="E8E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110 automated tests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1371600" y="2414016"/>
            <a:ext cx="5577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69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Including the real naming-drift cases — Sandcrawler, Yavin 4, Slave 1 — locked in so they can never regress.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40080" y="3182112"/>
            <a:ext cx="475488" cy="475488"/>
          </a:xfrm>
          <a:prstGeom prst="ellipse">
            <a:avLst/>
          </a:prstGeom>
          <a:solidFill>
            <a:srgbClr val="FFE81F"/>
          </a:solidFill>
          <a:ln/>
        </p:spPr>
      </p:sp>
      <p:pic>
        <p:nvPicPr>
          <p:cNvPr id="10" name="Image 1" descr="/private/tmp/claude-501/-Users-eliseogomez-Documents-SWAPP-StarWarsWikiApp-StarWarsWiki/6ca98190-2482-4349-b17c-5c014630cb6d/scratchpad/icons/shield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3300984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71600" y="314553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450" b="1" dirty="0">
                <a:solidFill>
                  <a:srgbClr val="E8E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TypeScript in strict mode</a:t>
            </a:r>
            <a:endParaRPr lang="en-US" sz="1450" dirty="0"/>
          </a:p>
        </p:txBody>
      </p:sp>
      <p:sp>
        <p:nvSpPr>
          <p:cNvPr id="12" name="Text 8"/>
          <p:cNvSpPr txBox="1"/>
          <p:nvPr/>
        </p:nvSpPr>
        <p:spPr>
          <a:xfrm>
            <a:off x="1371600" y="3474720"/>
            <a:ext cx="5577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69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Both apps. Whole categories of runtime error simply cannot be written.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40080" y="4242816"/>
            <a:ext cx="475488" cy="475488"/>
          </a:xfrm>
          <a:prstGeom prst="ellipse">
            <a:avLst/>
          </a:prstGeom>
          <a:solidFill>
            <a:srgbClr val="FFE81F"/>
          </a:solidFill>
          <a:ln/>
        </p:spPr>
      </p:sp>
      <p:pic>
        <p:nvPicPr>
          <p:cNvPr id="14" name="Image 2" descr="/private/tmp/claude-501/-Users-eliseogomez-Documents-SWAPP-StarWarsWikiApp-StarWarsWiki/6ca98190-2482-4349-b17c-5c014630cb6d/scratchpad/icons/check-d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4361688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371600" y="4206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450" b="1" dirty="0">
                <a:solidFill>
                  <a:srgbClr val="E8E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Zod validation at both ends</a:t>
            </a:r>
            <a:endParaRPr lang="en-US" sz="1450" dirty="0"/>
          </a:p>
        </p:txBody>
      </p:sp>
      <p:sp>
        <p:nvSpPr>
          <p:cNvPr id="16" name="Text 11"/>
          <p:cNvSpPr txBox="1"/>
          <p:nvPr/>
        </p:nvSpPr>
        <p:spPr>
          <a:xfrm>
            <a:off x="1371600" y="4535424"/>
            <a:ext cx="5577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69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The server validates what it sends; the app validates what it receives. A silent API change becomes a loud, obvious failure.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640080" y="5303520"/>
            <a:ext cx="475488" cy="475488"/>
          </a:xfrm>
          <a:prstGeom prst="ellipse">
            <a:avLst/>
          </a:prstGeom>
          <a:solidFill>
            <a:srgbClr val="FFE81F"/>
          </a:solidFill>
          <a:ln/>
        </p:spPr>
      </p:sp>
      <p:pic>
        <p:nvPicPr>
          <p:cNvPr id="18" name="Image 3" descr="/private/tmp/claude-501/-Users-eliseogomez-Documents-SWAPP-StarWarsWikiApp-StarWarsWiki/6ca98190-2482-4349-b17c-5c014630cb6d/scratchpad/icons/code-d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5422392"/>
            <a:ext cx="237744" cy="23774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371600" y="526694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450" b="1" dirty="0">
                <a:solidFill>
                  <a:srgbClr val="E8E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Hooks on every commit</a:t>
            </a:r>
            <a:endParaRPr lang="en-US" sz="1450" dirty="0"/>
          </a:p>
        </p:txBody>
      </p:sp>
      <p:sp>
        <p:nvSpPr>
          <p:cNvPr id="20" name="Text 14"/>
          <p:cNvSpPr txBox="1"/>
          <p:nvPr/>
        </p:nvSpPr>
        <p:spPr>
          <a:xfrm>
            <a:off x="1371600" y="5596128"/>
            <a:ext cx="5577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69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Husky and lint-staged lint and format only the touched files, so the main branch stays consistent without slowing anyone down.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6995160" y="2011680"/>
            <a:ext cx="4553712" cy="2999232"/>
          </a:xfrm>
          <a:prstGeom prst="roundRect">
            <a:avLst>
              <a:gd name="adj" fmla="val 3049"/>
            </a:avLst>
          </a:prstGeom>
          <a:solidFill>
            <a:srgbClr val="1E1C10"/>
          </a:solidFill>
          <a:ln w="12700">
            <a:solidFill>
              <a:srgbClr val="3C392C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7269480" y="221284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4D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WHERE THE TESTS LIVE</a:t>
            </a:r>
            <a:endParaRPr lang="en-US" sz="950" dirty="0"/>
          </a:p>
        </p:txBody>
      </p:sp>
      <p:graphicFrame>
        <p:nvGraphicFramePr>
          <p:cNvPr id="23" name="Chart 0" descr=""/>
          <p:cNvGraphicFramePr/>
          <p:nvPr/>
        </p:nvGraphicFramePr>
        <p:xfrm>
          <a:off x="7178040" y="2487168"/>
          <a:ext cx="4187952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4" name="Shape 17"/>
          <p:cNvSpPr/>
          <p:nvPr/>
        </p:nvSpPr>
        <p:spPr>
          <a:xfrm>
            <a:off x="6995160" y="5138928"/>
            <a:ext cx="4553712" cy="1060704"/>
          </a:xfrm>
          <a:prstGeom prst="roundRect">
            <a:avLst>
              <a:gd name="adj" fmla="val 8621"/>
            </a:avLst>
          </a:prstGeom>
          <a:solidFill>
            <a:srgbClr val="2A2818"/>
          </a:solidFill>
          <a:ln w="12700">
            <a:solidFill>
              <a:srgbClr val="3C392C"/>
            </a:solidFill>
            <a:prstDash val="solid"/>
          </a:ln>
        </p:spPr>
      </p:sp>
      <p:sp>
        <p:nvSpPr>
          <p:cNvPr id="25" name="Text 18"/>
          <p:cNvSpPr txBox="1"/>
          <p:nvPr/>
        </p:nvSpPr>
        <p:spPr>
          <a:xfrm>
            <a:off x="7269480" y="5321808"/>
            <a:ext cx="40050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E8E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The backend carries the complex logic, so it carries the bulk of the tests. The app is tested where it makes decisions: data hooks and formatting.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3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20" kern="0" dirty="0">
                <a:solidFill>
                  <a:srgbClr val="4D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13  //  ROADMAP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spc="60" kern="0" dirty="0">
                <a:solidFill>
                  <a:srgbClr val="E8E2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Where it goes next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69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The foundation is deliberately shared, so the third app is mostly assembly.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139696"/>
            <a:ext cx="3465576" cy="2542032"/>
          </a:xfrm>
          <a:prstGeom prst="roundRect">
            <a:avLst>
              <a:gd name="adj" fmla="val 3597"/>
            </a:avLst>
          </a:prstGeom>
          <a:solidFill>
            <a:srgbClr val="1E1C10"/>
          </a:solidFill>
          <a:ln w="12700">
            <a:solidFill>
              <a:srgbClr val="3C392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6112" y="2340864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E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01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2862072" y="2432304"/>
            <a:ext cx="987552" cy="292608"/>
          </a:xfrm>
          <a:prstGeom prst="roundRect">
            <a:avLst>
              <a:gd name="adj" fmla="val 50000"/>
            </a:avLst>
          </a:prstGeom>
          <a:solidFill>
            <a:srgbClr val="FFE81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862072" y="2432304"/>
            <a:ext cx="987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1413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SHIPPED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2962656"/>
            <a:ext cx="2953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E8E2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BACKEND API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024128" y="3383280"/>
            <a:ext cx="28254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969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Databank sync for six categories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969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SWAPI proxy with live enrichment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969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Fuzzy matcher and id cross-referencing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969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OpenAPI docs and 96 tests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42232" y="3410712"/>
            <a:ext cx="173736" cy="0"/>
          </a:xfrm>
          <a:prstGeom prst="line">
            <a:avLst/>
          </a:prstGeom>
          <a:noFill/>
          <a:ln w="22225">
            <a:solidFill>
              <a:srgbClr val="3C392C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361688" y="2139696"/>
            <a:ext cx="3465576" cy="2542032"/>
          </a:xfrm>
          <a:prstGeom prst="roundRect">
            <a:avLst>
              <a:gd name="adj" fmla="val 3597"/>
            </a:avLst>
          </a:prstGeom>
          <a:solidFill>
            <a:srgbClr val="1E1C10"/>
          </a:solidFill>
          <a:ln w="12700">
            <a:solidFill>
              <a:srgbClr val="3C392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17720" y="2340864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E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02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6583680" y="2432304"/>
            <a:ext cx="987552" cy="292608"/>
          </a:xfrm>
          <a:prstGeom prst="roundRect">
            <a:avLst>
              <a:gd name="adj" fmla="val 50000"/>
            </a:avLst>
          </a:prstGeom>
          <a:solidFill>
            <a:srgbClr val="FFE81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583680" y="2432304"/>
            <a:ext cx="987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1413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SHIPPED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4617720" y="2962656"/>
            <a:ext cx="2953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E8E2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MOBILE APP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745736" y="3383280"/>
            <a:ext cx="28254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969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Five category tabs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969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List, search and infinite scroll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969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Detail screens with related links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969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Runs on iOS, Android and web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863840" y="3410712"/>
            <a:ext cx="173736" cy="0"/>
          </a:xfrm>
          <a:prstGeom prst="line">
            <a:avLst/>
          </a:prstGeom>
          <a:noFill/>
          <a:ln w="22225">
            <a:solidFill>
              <a:srgbClr val="3C392C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083296" y="2139696"/>
            <a:ext cx="3465576" cy="2542032"/>
          </a:xfrm>
          <a:prstGeom prst="roundRect">
            <a:avLst>
              <a:gd name="adj" fmla="val 3597"/>
            </a:avLst>
          </a:prstGeom>
          <a:solidFill>
            <a:srgbClr val="1E1C10"/>
          </a:solidFill>
          <a:ln w="12700">
            <a:solidFill>
              <a:srgbClr val="3C392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339328" y="2340864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D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03</a:t>
            </a:r>
            <a:endParaRPr lang="en-US" sz="3000" dirty="0"/>
          </a:p>
        </p:txBody>
      </p:sp>
      <p:sp>
        <p:nvSpPr>
          <p:cNvPr id="21" name="Shape 19"/>
          <p:cNvSpPr/>
          <p:nvPr/>
        </p:nvSpPr>
        <p:spPr>
          <a:xfrm>
            <a:off x="10305288" y="2432304"/>
            <a:ext cx="987552" cy="292608"/>
          </a:xfrm>
          <a:prstGeom prst="roundRect">
            <a:avLst>
              <a:gd name="adj" fmla="val 50000"/>
            </a:avLst>
          </a:prstGeom>
          <a:solidFill>
            <a:srgbClr val="2A2818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305288" y="2432304"/>
            <a:ext cx="987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4D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NEXT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8339328" y="2962656"/>
            <a:ext cx="2953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E8E2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WEB APP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8467344" y="3383280"/>
            <a:ext cx="28254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969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Reuses the same API unchanged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969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Shares the design tokens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969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Wider layouts for desktop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969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Placeholder already in the repo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" y="5047488"/>
            <a:ext cx="10911535" cy="1207008"/>
          </a:xfrm>
          <a:prstGeom prst="roundRect">
            <a:avLst>
              <a:gd name="adj" fmla="val 7576"/>
            </a:avLst>
          </a:prstGeom>
          <a:solidFill>
            <a:srgbClr val="2A2818"/>
          </a:solidFill>
          <a:ln w="12700">
            <a:solidFill>
              <a:srgbClr val="3C392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50976" y="5376672"/>
            <a:ext cx="475488" cy="475488"/>
          </a:xfrm>
          <a:prstGeom prst="ellipse">
            <a:avLst/>
          </a:prstGeom>
          <a:solidFill>
            <a:srgbClr val="FFE81F"/>
          </a:solidFill>
          <a:ln/>
        </p:spPr>
      </p:sp>
      <p:pic>
        <p:nvPicPr>
          <p:cNvPr id="27" name="Image 0" descr="/private/tmp/claude-501/-Users-eliseogomez-Documents-SWAPP-StarWarsWikiApp-StarWarsWiki/6ca98190-2482-4349-b17c-5c014630cb6d/scratchpad/icons/compass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5495544"/>
            <a:ext cx="237744" cy="237744"/>
          </a:xfrm>
          <a:prstGeom prst="rect">
            <a:avLst/>
          </a:prstGeom>
        </p:spPr>
      </p:pic>
      <p:sp>
        <p:nvSpPr>
          <p:cNvPr id="28" name="Text 25"/>
          <p:cNvSpPr txBox="1"/>
          <p:nvPr/>
        </p:nvSpPr>
        <p:spPr>
          <a:xfrm>
            <a:off x="1609344" y="5394960"/>
            <a:ext cx="9631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Because the API already returns everything a client needs in one clean shape, a new front end costs presentation work — not another integration.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0D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87443" y="1095947"/>
            <a:ext cx="49178" cy="49178"/>
          </a:xfrm>
          <a:prstGeom prst="ellipse">
            <a:avLst/>
          </a:prstGeom>
          <a:solidFill>
            <a:srgbClr val="E8E2CF"/>
          </a:solidFill>
          <a:ln/>
        </p:spPr>
      </p:sp>
      <p:sp>
        <p:nvSpPr>
          <p:cNvPr id="3" name="Shape 1"/>
          <p:cNvSpPr/>
          <p:nvPr/>
        </p:nvSpPr>
        <p:spPr>
          <a:xfrm>
            <a:off x="9871281" y="105798"/>
            <a:ext cx="17353" cy="17353"/>
          </a:xfrm>
          <a:prstGeom prst="ellipse">
            <a:avLst/>
          </a:prstGeom>
          <a:solidFill>
            <a:srgbClr val="E8E2CF"/>
          </a:solidFill>
          <a:ln/>
        </p:spPr>
      </p:sp>
      <p:sp>
        <p:nvSpPr>
          <p:cNvPr id="4" name="Shape 2"/>
          <p:cNvSpPr/>
          <p:nvPr/>
        </p:nvSpPr>
        <p:spPr>
          <a:xfrm>
            <a:off x="5430338" y="157950"/>
            <a:ext cx="34949" cy="34949"/>
          </a:xfrm>
          <a:prstGeom prst="ellipse">
            <a:avLst/>
          </a:prstGeom>
          <a:solidFill>
            <a:srgbClr val="E8E2CF"/>
          </a:solidFill>
          <a:ln/>
        </p:spPr>
      </p:sp>
      <p:sp>
        <p:nvSpPr>
          <p:cNvPr id="5" name="Shape 3"/>
          <p:cNvSpPr/>
          <p:nvPr/>
        </p:nvSpPr>
        <p:spPr>
          <a:xfrm>
            <a:off x="797504" y="204922"/>
            <a:ext cx="48475" cy="48475"/>
          </a:xfrm>
          <a:prstGeom prst="ellipse">
            <a:avLst/>
          </a:prstGeom>
          <a:solidFill>
            <a:srgbClr val="E8E2CF"/>
          </a:solidFill>
          <a:ln/>
        </p:spPr>
      </p:sp>
      <p:sp>
        <p:nvSpPr>
          <p:cNvPr id="6" name="Shape 4"/>
          <p:cNvSpPr/>
          <p:nvPr/>
        </p:nvSpPr>
        <p:spPr>
          <a:xfrm>
            <a:off x="9887923" y="175031"/>
            <a:ext cx="41298" cy="41298"/>
          </a:xfrm>
          <a:prstGeom prst="ellipse">
            <a:avLst/>
          </a:prstGeom>
          <a:solidFill>
            <a:srgbClr val="E8E2CF"/>
          </a:solidFill>
          <a:ln/>
        </p:spPr>
      </p:sp>
      <p:sp>
        <p:nvSpPr>
          <p:cNvPr id="7" name="Shape 5"/>
          <p:cNvSpPr/>
          <p:nvPr/>
        </p:nvSpPr>
        <p:spPr>
          <a:xfrm>
            <a:off x="12095082" y="4961745"/>
            <a:ext cx="54452" cy="54452"/>
          </a:xfrm>
          <a:prstGeom prst="ellipse">
            <a:avLst/>
          </a:prstGeom>
          <a:solidFill>
            <a:srgbClr val="E8E2CF"/>
          </a:solidFill>
          <a:ln/>
        </p:spPr>
      </p:sp>
      <p:sp>
        <p:nvSpPr>
          <p:cNvPr id="8" name="Shape 6"/>
          <p:cNvSpPr/>
          <p:nvPr/>
        </p:nvSpPr>
        <p:spPr>
          <a:xfrm>
            <a:off x="6758884" y="65425"/>
            <a:ext cx="46960" cy="46960"/>
          </a:xfrm>
          <a:prstGeom prst="ellipse">
            <a:avLst/>
          </a:prstGeom>
          <a:solidFill>
            <a:srgbClr val="E8E2CF"/>
          </a:solidFill>
          <a:ln/>
        </p:spPr>
      </p:sp>
      <p:sp>
        <p:nvSpPr>
          <p:cNvPr id="9" name="Shape 7"/>
          <p:cNvSpPr/>
          <p:nvPr/>
        </p:nvSpPr>
        <p:spPr>
          <a:xfrm>
            <a:off x="8635254" y="885544"/>
            <a:ext cx="38756" cy="38756"/>
          </a:xfrm>
          <a:prstGeom prst="ellipse">
            <a:avLst/>
          </a:prstGeom>
          <a:solidFill>
            <a:srgbClr val="E8E2CF"/>
          </a:solidFill>
          <a:ln/>
        </p:spPr>
      </p:sp>
      <p:sp>
        <p:nvSpPr>
          <p:cNvPr id="10" name="Shape 8"/>
          <p:cNvSpPr/>
          <p:nvPr/>
        </p:nvSpPr>
        <p:spPr>
          <a:xfrm>
            <a:off x="581932" y="1717159"/>
            <a:ext cx="34824" cy="34824"/>
          </a:xfrm>
          <a:prstGeom prst="ellipse">
            <a:avLst/>
          </a:prstGeom>
          <a:solidFill>
            <a:srgbClr val="E8E2CF"/>
          </a:solidFill>
          <a:ln/>
        </p:spPr>
      </p:sp>
      <p:sp>
        <p:nvSpPr>
          <p:cNvPr id="11" name="Shape 9"/>
          <p:cNvSpPr/>
          <p:nvPr/>
        </p:nvSpPr>
        <p:spPr>
          <a:xfrm>
            <a:off x="4857217" y="6767104"/>
            <a:ext cx="52798" cy="52798"/>
          </a:xfrm>
          <a:prstGeom prst="ellipse">
            <a:avLst/>
          </a:prstGeom>
          <a:solidFill>
            <a:srgbClr val="E8E2CF"/>
          </a:solidFill>
          <a:ln/>
        </p:spPr>
      </p:sp>
      <p:sp>
        <p:nvSpPr>
          <p:cNvPr id="12" name="Shape 10"/>
          <p:cNvSpPr/>
          <p:nvPr/>
        </p:nvSpPr>
        <p:spPr>
          <a:xfrm>
            <a:off x="8121830" y="2767969"/>
            <a:ext cx="51486" cy="51486"/>
          </a:xfrm>
          <a:prstGeom prst="ellipse">
            <a:avLst/>
          </a:prstGeom>
          <a:solidFill>
            <a:srgbClr val="E8E2CF"/>
          </a:solidFill>
          <a:ln/>
        </p:spPr>
      </p:sp>
      <p:sp>
        <p:nvSpPr>
          <p:cNvPr id="13" name="Shape 11"/>
          <p:cNvSpPr/>
          <p:nvPr/>
        </p:nvSpPr>
        <p:spPr>
          <a:xfrm>
            <a:off x="1690849" y="6173080"/>
            <a:ext cx="51703" cy="51703"/>
          </a:xfrm>
          <a:prstGeom prst="ellipse">
            <a:avLst/>
          </a:prstGeom>
          <a:solidFill>
            <a:srgbClr val="E8E2CF"/>
          </a:solidFill>
          <a:ln/>
        </p:spPr>
      </p:sp>
      <p:sp>
        <p:nvSpPr>
          <p:cNvPr id="14" name="Shape 12"/>
          <p:cNvSpPr/>
          <p:nvPr/>
        </p:nvSpPr>
        <p:spPr>
          <a:xfrm>
            <a:off x="1327133" y="1442556"/>
            <a:ext cx="28114" cy="28114"/>
          </a:xfrm>
          <a:prstGeom prst="ellipse">
            <a:avLst/>
          </a:prstGeom>
          <a:solidFill>
            <a:srgbClr val="E8E2CF"/>
          </a:solidFill>
          <a:ln/>
        </p:spPr>
      </p:sp>
      <p:sp>
        <p:nvSpPr>
          <p:cNvPr id="15" name="Shape 13"/>
          <p:cNvSpPr/>
          <p:nvPr/>
        </p:nvSpPr>
        <p:spPr>
          <a:xfrm>
            <a:off x="4141469" y="6516485"/>
            <a:ext cx="31294" cy="31294"/>
          </a:xfrm>
          <a:prstGeom prst="ellipse">
            <a:avLst/>
          </a:prstGeom>
          <a:solidFill>
            <a:srgbClr val="E8E2CF"/>
          </a:solidFill>
          <a:ln/>
        </p:spPr>
      </p:sp>
      <p:sp>
        <p:nvSpPr>
          <p:cNvPr id="16" name="Shape 14"/>
          <p:cNvSpPr/>
          <p:nvPr/>
        </p:nvSpPr>
        <p:spPr>
          <a:xfrm>
            <a:off x="2901320" y="3096393"/>
            <a:ext cx="46195" cy="46195"/>
          </a:xfrm>
          <a:prstGeom prst="ellipse">
            <a:avLst/>
          </a:prstGeom>
          <a:solidFill>
            <a:srgbClr val="E8E2CF"/>
          </a:solidFill>
          <a:ln/>
        </p:spPr>
      </p:sp>
      <p:sp>
        <p:nvSpPr>
          <p:cNvPr id="17" name="Shape 15"/>
          <p:cNvSpPr/>
          <p:nvPr/>
        </p:nvSpPr>
        <p:spPr>
          <a:xfrm>
            <a:off x="1782187" y="2280094"/>
            <a:ext cx="40430" cy="40430"/>
          </a:xfrm>
          <a:prstGeom prst="ellipse">
            <a:avLst/>
          </a:prstGeom>
          <a:solidFill>
            <a:srgbClr val="4DF0FF"/>
          </a:solidFill>
          <a:ln/>
        </p:spPr>
      </p:sp>
      <p:sp>
        <p:nvSpPr>
          <p:cNvPr id="18" name="Shape 16"/>
          <p:cNvSpPr/>
          <p:nvPr/>
        </p:nvSpPr>
        <p:spPr>
          <a:xfrm>
            <a:off x="7166790" y="6711177"/>
            <a:ext cx="30496" cy="30496"/>
          </a:xfrm>
          <a:prstGeom prst="ellipse">
            <a:avLst/>
          </a:prstGeom>
          <a:solidFill>
            <a:srgbClr val="FFE81F"/>
          </a:solidFill>
          <a:ln/>
        </p:spPr>
      </p:sp>
      <p:sp>
        <p:nvSpPr>
          <p:cNvPr id="19" name="Shape 17"/>
          <p:cNvSpPr/>
          <p:nvPr/>
        </p:nvSpPr>
        <p:spPr>
          <a:xfrm>
            <a:off x="8570879" y="6507237"/>
            <a:ext cx="53411" cy="53411"/>
          </a:xfrm>
          <a:prstGeom prst="ellipse">
            <a:avLst/>
          </a:prstGeom>
          <a:solidFill>
            <a:srgbClr val="E8E2CF"/>
          </a:solidFill>
          <a:ln/>
        </p:spPr>
      </p:sp>
      <p:sp>
        <p:nvSpPr>
          <p:cNvPr id="20" name="Shape 18"/>
          <p:cNvSpPr/>
          <p:nvPr/>
        </p:nvSpPr>
        <p:spPr>
          <a:xfrm>
            <a:off x="1496720" y="951712"/>
            <a:ext cx="44095" cy="44095"/>
          </a:xfrm>
          <a:prstGeom prst="ellipse">
            <a:avLst/>
          </a:prstGeom>
          <a:solidFill>
            <a:srgbClr val="E8E2CF"/>
          </a:solidFill>
          <a:ln/>
        </p:spPr>
      </p:sp>
      <p:sp>
        <p:nvSpPr>
          <p:cNvPr id="21" name="Shape 19"/>
          <p:cNvSpPr/>
          <p:nvPr/>
        </p:nvSpPr>
        <p:spPr>
          <a:xfrm>
            <a:off x="3138798" y="2421273"/>
            <a:ext cx="37159" cy="37159"/>
          </a:xfrm>
          <a:prstGeom prst="ellipse">
            <a:avLst/>
          </a:prstGeom>
          <a:solidFill>
            <a:srgbClr val="4DF0FF"/>
          </a:solidFill>
          <a:ln/>
        </p:spPr>
      </p:sp>
      <p:sp>
        <p:nvSpPr>
          <p:cNvPr id="22" name="Shape 20"/>
          <p:cNvSpPr/>
          <p:nvPr/>
        </p:nvSpPr>
        <p:spPr>
          <a:xfrm>
            <a:off x="2525605" y="6099612"/>
            <a:ext cx="45977" cy="45977"/>
          </a:xfrm>
          <a:prstGeom prst="ellipse">
            <a:avLst/>
          </a:prstGeom>
          <a:solidFill>
            <a:srgbClr val="4DF0FF"/>
          </a:solidFill>
          <a:ln/>
        </p:spPr>
      </p:sp>
      <p:sp>
        <p:nvSpPr>
          <p:cNvPr id="23" name="Shape 21"/>
          <p:cNvSpPr/>
          <p:nvPr/>
        </p:nvSpPr>
        <p:spPr>
          <a:xfrm>
            <a:off x="10887278" y="5858162"/>
            <a:ext cx="34483" cy="34483"/>
          </a:xfrm>
          <a:prstGeom prst="ellipse">
            <a:avLst/>
          </a:prstGeom>
          <a:solidFill>
            <a:srgbClr val="4DF0FF"/>
          </a:solidFill>
          <a:ln/>
        </p:spPr>
      </p:sp>
      <p:sp>
        <p:nvSpPr>
          <p:cNvPr id="24" name="Shape 22"/>
          <p:cNvSpPr/>
          <p:nvPr/>
        </p:nvSpPr>
        <p:spPr>
          <a:xfrm>
            <a:off x="4445314" y="2859845"/>
            <a:ext cx="23525" cy="23525"/>
          </a:xfrm>
          <a:prstGeom prst="ellipse">
            <a:avLst/>
          </a:prstGeom>
          <a:solidFill>
            <a:srgbClr val="E8E2CF"/>
          </a:solidFill>
          <a:ln/>
        </p:spPr>
      </p:sp>
      <p:sp>
        <p:nvSpPr>
          <p:cNvPr id="25" name="Shape 23"/>
          <p:cNvSpPr/>
          <p:nvPr/>
        </p:nvSpPr>
        <p:spPr>
          <a:xfrm>
            <a:off x="11246921" y="6479188"/>
            <a:ext cx="49912" cy="49912"/>
          </a:xfrm>
          <a:prstGeom prst="ellipse">
            <a:avLst/>
          </a:prstGeom>
          <a:solidFill>
            <a:srgbClr val="E8E2CF"/>
          </a:solidFill>
          <a:ln/>
        </p:spPr>
      </p:sp>
      <p:sp>
        <p:nvSpPr>
          <p:cNvPr id="26" name="Shape 24"/>
          <p:cNvSpPr/>
          <p:nvPr/>
        </p:nvSpPr>
        <p:spPr>
          <a:xfrm>
            <a:off x="2753765" y="6050245"/>
            <a:ext cx="33720" cy="33720"/>
          </a:xfrm>
          <a:prstGeom prst="ellipse">
            <a:avLst/>
          </a:prstGeom>
          <a:solidFill>
            <a:srgbClr val="4DF0FF"/>
          </a:solidFill>
          <a:ln/>
        </p:spPr>
      </p:sp>
      <p:sp>
        <p:nvSpPr>
          <p:cNvPr id="27" name="Shape 25"/>
          <p:cNvSpPr/>
          <p:nvPr/>
        </p:nvSpPr>
        <p:spPr>
          <a:xfrm>
            <a:off x="7860066" y="1561407"/>
            <a:ext cx="22452" cy="22452"/>
          </a:xfrm>
          <a:prstGeom prst="ellipse">
            <a:avLst/>
          </a:prstGeom>
          <a:solidFill>
            <a:srgbClr val="E8E2CF"/>
          </a:solidFill>
          <a:ln/>
        </p:spPr>
      </p:sp>
      <p:sp>
        <p:nvSpPr>
          <p:cNvPr id="28" name="Shape 26"/>
          <p:cNvSpPr/>
          <p:nvPr/>
        </p:nvSpPr>
        <p:spPr>
          <a:xfrm>
            <a:off x="8023318" y="6139978"/>
            <a:ext cx="50382" cy="50382"/>
          </a:xfrm>
          <a:prstGeom prst="ellipse">
            <a:avLst/>
          </a:prstGeom>
          <a:solidFill>
            <a:srgbClr val="E8E2CF"/>
          </a:solidFill>
          <a:ln/>
        </p:spPr>
      </p:sp>
      <p:sp>
        <p:nvSpPr>
          <p:cNvPr id="29" name="Shape 27"/>
          <p:cNvSpPr/>
          <p:nvPr/>
        </p:nvSpPr>
        <p:spPr>
          <a:xfrm>
            <a:off x="6719784" y="5617534"/>
            <a:ext cx="24517" cy="24517"/>
          </a:xfrm>
          <a:prstGeom prst="ellipse">
            <a:avLst/>
          </a:prstGeom>
          <a:solidFill>
            <a:srgbClr val="E8E2CF"/>
          </a:solidFill>
          <a:ln/>
        </p:spPr>
      </p:sp>
      <p:sp>
        <p:nvSpPr>
          <p:cNvPr id="30" name="Shape 28"/>
          <p:cNvSpPr/>
          <p:nvPr/>
        </p:nvSpPr>
        <p:spPr>
          <a:xfrm>
            <a:off x="9101250" y="5523801"/>
            <a:ext cx="27526" cy="27526"/>
          </a:xfrm>
          <a:prstGeom prst="ellipse">
            <a:avLst/>
          </a:prstGeom>
          <a:solidFill>
            <a:srgbClr val="E8E2CF"/>
          </a:solidFill>
          <a:ln/>
        </p:spPr>
      </p:sp>
      <p:sp>
        <p:nvSpPr>
          <p:cNvPr id="31" name="Shape 29"/>
          <p:cNvSpPr/>
          <p:nvPr/>
        </p:nvSpPr>
        <p:spPr>
          <a:xfrm>
            <a:off x="4391080" y="988029"/>
            <a:ext cx="28534" cy="28534"/>
          </a:xfrm>
          <a:prstGeom prst="ellipse">
            <a:avLst/>
          </a:prstGeom>
          <a:solidFill>
            <a:srgbClr val="E8E2CF"/>
          </a:solidFill>
          <a:ln/>
        </p:spPr>
      </p:sp>
      <p:sp>
        <p:nvSpPr>
          <p:cNvPr id="32" name="Shape 30"/>
          <p:cNvSpPr/>
          <p:nvPr/>
        </p:nvSpPr>
        <p:spPr>
          <a:xfrm>
            <a:off x="3804931" y="3196932"/>
            <a:ext cx="32279" cy="32279"/>
          </a:xfrm>
          <a:prstGeom prst="ellipse">
            <a:avLst/>
          </a:prstGeom>
          <a:solidFill>
            <a:srgbClr val="E8E2CF"/>
          </a:solidFill>
          <a:ln/>
        </p:spPr>
      </p:sp>
      <p:sp>
        <p:nvSpPr>
          <p:cNvPr id="33" name="Shape 31"/>
          <p:cNvSpPr/>
          <p:nvPr/>
        </p:nvSpPr>
        <p:spPr>
          <a:xfrm>
            <a:off x="7840455" y="1212242"/>
            <a:ext cx="31814" cy="31814"/>
          </a:xfrm>
          <a:prstGeom prst="ellipse">
            <a:avLst/>
          </a:prstGeom>
          <a:solidFill>
            <a:srgbClr val="E8E2CF"/>
          </a:solidFill>
          <a:ln/>
        </p:spPr>
      </p:sp>
      <p:sp>
        <p:nvSpPr>
          <p:cNvPr id="34" name="Shape 32"/>
          <p:cNvSpPr/>
          <p:nvPr/>
        </p:nvSpPr>
        <p:spPr>
          <a:xfrm>
            <a:off x="8823449" y="3107442"/>
            <a:ext cx="33320" cy="33320"/>
          </a:xfrm>
          <a:prstGeom prst="ellipse">
            <a:avLst/>
          </a:prstGeom>
          <a:solidFill>
            <a:srgbClr val="E8E2CF"/>
          </a:solidFill>
          <a:ln/>
        </p:spPr>
      </p:sp>
      <p:sp>
        <p:nvSpPr>
          <p:cNvPr id="35" name="Shape 33"/>
          <p:cNvSpPr/>
          <p:nvPr/>
        </p:nvSpPr>
        <p:spPr>
          <a:xfrm>
            <a:off x="8090099" y="1559514"/>
            <a:ext cx="34750" cy="34750"/>
          </a:xfrm>
          <a:prstGeom prst="ellipse">
            <a:avLst/>
          </a:prstGeom>
          <a:solidFill>
            <a:srgbClr val="E8E2CF"/>
          </a:solidFill>
          <a:ln/>
        </p:spPr>
      </p:sp>
      <p:sp>
        <p:nvSpPr>
          <p:cNvPr id="36" name="Shape 34"/>
          <p:cNvSpPr/>
          <p:nvPr/>
        </p:nvSpPr>
        <p:spPr>
          <a:xfrm>
            <a:off x="5495779" y="6375870"/>
            <a:ext cx="51815" cy="51815"/>
          </a:xfrm>
          <a:prstGeom prst="ellipse">
            <a:avLst/>
          </a:prstGeom>
          <a:solidFill>
            <a:srgbClr val="4DF0FF"/>
          </a:solidFill>
          <a:ln/>
        </p:spPr>
      </p:sp>
      <p:sp>
        <p:nvSpPr>
          <p:cNvPr id="37" name="Shape 35"/>
          <p:cNvSpPr/>
          <p:nvPr/>
        </p:nvSpPr>
        <p:spPr>
          <a:xfrm>
            <a:off x="232675" y="3906434"/>
            <a:ext cx="18076" cy="18076"/>
          </a:xfrm>
          <a:prstGeom prst="ellipse">
            <a:avLst/>
          </a:prstGeom>
          <a:solidFill>
            <a:srgbClr val="FFE81F"/>
          </a:solidFill>
          <a:ln/>
        </p:spPr>
      </p:sp>
      <p:sp>
        <p:nvSpPr>
          <p:cNvPr id="38" name="Shape 36"/>
          <p:cNvSpPr/>
          <p:nvPr/>
        </p:nvSpPr>
        <p:spPr>
          <a:xfrm>
            <a:off x="9852266" y="2661867"/>
            <a:ext cx="50662" cy="50662"/>
          </a:xfrm>
          <a:prstGeom prst="ellipse">
            <a:avLst/>
          </a:prstGeom>
          <a:solidFill>
            <a:srgbClr val="E8E2CF"/>
          </a:solidFill>
          <a:ln/>
        </p:spPr>
      </p:sp>
      <p:sp>
        <p:nvSpPr>
          <p:cNvPr id="39" name="Shape 37"/>
          <p:cNvSpPr/>
          <p:nvPr/>
        </p:nvSpPr>
        <p:spPr>
          <a:xfrm>
            <a:off x="1469406" y="1297012"/>
            <a:ext cx="16923" cy="16923"/>
          </a:xfrm>
          <a:prstGeom prst="ellipse">
            <a:avLst/>
          </a:prstGeom>
          <a:solidFill>
            <a:srgbClr val="E8E2CF"/>
          </a:solidFill>
          <a:ln/>
        </p:spPr>
      </p:sp>
      <p:sp>
        <p:nvSpPr>
          <p:cNvPr id="40" name="Shape 38"/>
          <p:cNvSpPr/>
          <p:nvPr/>
        </p:nvSpPr>
        <p:spPr>
          <a:xfrm>
            <a:off x="270262" y="5130266"/>
            <a:ext cx="28371" cy="28371"/>
          </a:xfrm>
          <a:prstGeom prst="ellipse">
            <a:avLst/>
          </a:prstGeom>
          <a:solidFill>
            <a:srgbClr val="E8E2CF"/>
          </a:solidFill>
          <a:ln/>
        </p:spPr>
      </p:sp>
      <p:sp>
        <p:nvSpPr>
          <p:cNvPr id="41" name="Shape 39"/>
          <p:cNvSpPr/>
          <p:nvPr/>
        </p:nvSpPr>
        <p:spPr>
          <a:xfrm>
            <a:off x="11538560" y="6816100"/>
            <a:ext cx="39631" cy="39631"/>
          </a:xfrm>
          <a:prstGeom prst="ellipse">
            <a:avLst/>
          </a:prstGeom>
          <a:solidFill>
            <a:srgbClr val="E8E2CF"/>
          </a:solidFill>
          <a:ln/>
        </p:spPr>
      </p:sp>
      <p:sp>
        <p:nvSpPr>
          <p:cNvPr id="42" name="Shape 40"/>
          <p:cNvSpPr/>
          <p:nvPr/>
        </p:nvSpPr>
        <p:spPr>
          <a:xfrm>
            <a:off x="2431196" y="6622768"/>
            <a:ext cx="18052" cy="18052"/>
          </a:xfrm>
          <a:prstGeom prst="ellipse">
            <a:avLst/>
          </a:prstGeom>
          <a:solidFill>
            <a:srgbClr val="E8E2CF"/>
          </a:solidFill>
          <a:ln/>
        </p:spPr>
      </p:sp>
      <p:sp>
        <p:nvSpPr>
          <p:cNvPr id="43" name="Shape 41"/>
          <p:cNvSpPr/>
          <p:nvPr/>
        </p:nvSpPr>
        <p:spPr>
          <a:xfrm>
            <a:off x="195172" y="1705784"/>
            <a:ext cx="49283" cy="49283"/>
          </a:xfrm>
          <a:prstGeom prst="ellipse">
            <a:avLst/>
          </a:prstGeom>
          <a:solidFill>
            <a:srgbClr val="FFE81F"/>
          </a:solidFill>
          <a:ln/>
        </p:spPr>
      </p:sp>
      <p:sp>
        <p:nvSpPr>
          <p:cNvPr id="44" name="Shape 42"/>
          <p:cNvSpPr/>
          <p:nvPr/>
        </p:nvSpPr>
        <p:spPr>
          <a:xfrm>
            <a:off x="11047797" y="1614071"/>
            <a:ext cx="54360" cy="54360"/>
          </a:xfrm>
          <a:prstGeom prst="ellipse">
            <a:avLst/>
          </a:prstGeom>
          <a:solidFill>
            <a:srgbClr val="E8E2CF"/>
          </a:solidFill>
          <a:ln/>
        </p:spPr>
      </p:sp>
      <p:sp>
        <p:nvSpPr>
          <p:cNvPr id="45" name="Shape 43"/>
          <p:cNvSpPr/>
          <p:nvPr/>
        </p:nvSpPr>
        <p:spPr>
          <a:xfrm>
            <a:off x="2138313" y="5867261"/>
            <a:ext cx="22017" cy="22017"/>
          </a:xfrm>
          <a:prstGeom prst="ellipse">
            <a:avLst/>
          </a:prstGeom>
          <a:solidFill>
            <a:srgbClr val="FFE81F"/>
          </a:solidFill>
          <a:ln/>
        </p:spPr>
      </p:sp>
      <p:sp>
        <p:nvSpPr>
          <p:cNvPr id="46" name="Shape 44"/>
          <p:cNvSpPr/>
          <p:nvPr/>
        </p:nvSpPr>
        <p:spPr>
          <a:xfrm>
            <a:off x="1494902" y="27771"/>
            <a:ext cx="34415" cy="34415"/>
          </a:xfrm>
          <a:prstGeom prst="ellipse">
            <a:avLst/>
          </a:prstGeom>
          <a:solidFill>
            <a:srgbClr val="E8E2CF"/>
          </a:solidFill>
          <a:ln/>
        </p:spPr>
      </p:sp>
      <p:sp>
        <p:nvSpPr>
          <p:cNvPr id="47" name="Shape 45"/>
          <p:cNvSpPr/>
          <p:nvPr/>
        </p:nvSpPr>
        <p:spPr>
          <a:xfrm>
            <a:off x="9484573" y="5400190"/>
            <a:ext cx="26624" cy="26624"/>
          </a:xfrm>
          <a:prstGeom prst="ellipse">
            <a:avLst/>
          </a:prstGeom>
          <a:solidFill>
            <a:srgbClr val="4DF0FF"/>
          </a:solidFill>
          <a:ln/>
        </p:spPr>
      </p:sp>
      <p:sp>
        <p:nvSpPr>
          <p:cNvPr id="48" name="Shape 46"/>
          <p:cNvSpPr/>
          <p:nvPr/>
        </p:nvSpPr>
        <p:spPr>
          <a:xfrm>
            <a:off x="292991" y="5184847"/>
            <a:ext cx="39367" cy="39367"/>
          </a:xfrm>
          <a:prstGeom prst="ellipse">
            <a:avLst/>
          </a:prstGeom>
          <a:solidFill>
            <a:srgbClr val="E8E2CF"/>
          </a:solidFill>
          <a:ln/>
        </p:spPr>
      </p:sp>
      <p:sp>
        <p:nvSpPr>
          <p:cNvPr id="49" name="Shape 47"/>
          <p:cNvSpPr/>
          <p:nvPr/>
        </p:nvSpPr>
        <p:spPr>
          <a:xfrm>
            <a:off x="10991546" y="3190640"/>
            <a:ext cx="35429" cy="35429"/>
          </a:xfrm>
          <a:prstGeom prst="ellipse">
            <a:avLst/>
          </a:prstGeom>
          <a:solidFill>
            <a:srgbClr val="4DF0FF"/>
          </a:solidFill>
          <a:ln/>
        </p:spPr>
      </p:sp>
      <p:sp>
        <p:nvSpPr>
          <p:cNvPr id="50" name="Shape 48"/>
          <p:cNvSpPr/>
          <p:nvPr/>
        </p:nvSpPr>
        <p:spPr>
          <a:xfrm>
            <a:off x="10619902" y="2769592"/>
            <a:ext cx="27129" cy="27129"/>
          </a:xfrm>
          <a:prstGeom prst="ellipse">
            <a:avLst/>
          </a:prstGeom>
          <a:solidFill>
            <a:srgbClr val="E8E2CF"/>
          </a:solidFill>
          <a:ln/>
        </p:spPr>
      </p:sp>
      <p:sp>
        <p:nvSpPr>
          <p:cNvPr id="51" name="Shape 49"/>
          <p:cNvSpPr/>
          <p:nvPr/>
        </p:nvSpPr>
        <p:spPr>
          <a:xfrm>
            <a:off x="3818224" y="511788"/>
            <a:ext cx="37086" cy="37086"/>
          </a:xfrm>
          <a:prstGeom prst="ellipse">
            <a:avLst/>
          </a:prstGeom>
          <a:solidFill>
            <a:srgbClr val="FFE81F"/>
          </a:solidFill>
          <a:ln/>
        </p:spPr>
      </p:sp>
      <p:sp>
        <p:nvSpPr>
          <p:cNvPr id="52" name="Shape 50"/>
          <p:cNvSpPr/>
          <p:nvPr/>
        </p:nvSpPr>
        <p:spPr>
          <a:xfrm>
            <a:off x="3129008" y="3301113"/>
            <a:ext cx="39444" cy="39444"/>
          </a:xfrm>
          <a:prstGeom prst="ellipse">
            <a:avLst/>
          </a:prstGeom>
          <a:solidFill>
            <a:srgbClr val="4DF0FF"/>
          </a:solidFill>
          <a:ln/>
        </p:spPr>
      </p:sp>
      <p:sp>
        <p:nvSpPr>
          <p:cNvPr id="53" name="Shape 51"/>
          <p:cNvSpPr/>
          <p:nvPr/>
        </p:nvSpPr>
        <p:spPr>
          <a:xfrm>
            <a:off x="725443" y="1411459"/>
            <a:ext cx="27338" cy="27338"/>
          </a:xfrm>
          <a:prstGeom prst="ellipse">
            <a:avLst/>
          </a:prstGeom>
          <a:solidFill>
            <a:srgbClr val="4DF0FF"/>
          </a:solidFill>
          <a:ln/>
        </p:spPr>
      </p:sp>
      <p:sp>
        <p:nvSpPr>
          <p:cNvPr id="54" name="Shape 52"/>
          <p:cNvSpPr/>
          <p:nvPr/>
        </p:nvSpPr>
        <p:spPr>
          <a:xfrm>
            <a:off x="9829553" y="2894993"/>
            <a:ext cx="27940" cy="27940"/>
          </a:xfrm>
          <a:prstGeom prst="ellipse">
            <a:avLst/>
          </a:prstGeom>
          <a:solidFill>
            <a:srgbClr val="FFE81F"/>
          </a:solidFill>
          <a:ln/>
        </p:spPr>
      </p:sp>
      <p:sp>
        <p:nvSpPr>
          <p:cNvPr id="55" name="Shape 53"/>
          <p:cNvSpPr/>
          <p:nvPr/>
        </p:nvSpPr>
        <p:spPr>
          <a:xfrm>
            <a:off x="9727294" y="6172055"/>
            <a:ext cx="27732" cy="27732"/>
          </a:xfrm>
          <a:prstGeom prst="ellipse">
            <a:avLst/>
          </a:prstGeom>
          <a:solidFill>
            <a:srgbClr val="E8E2CF"/>
          </a:solidFill>
          <a:ln/>
        </p:spPr>
      </p:sp>
      <p:sp>
        <p:nvSpPr>
          <p:cNvPr id="56" name="Shape 54"/>
          <p:cNvSpPr/>
          <p:nvPr/>
        </p:nvSpPr>
        <p:spPr>
          <a:xfrm>
            <a:off x="10807066" y="1261055"/>
            <a:ext cx="22647" cy="22647"/>
          </a:xfrm>
          <a:prstGeom prst="ellipse">
            <a:avLst/>
          </a:prstGeom>
          <a:solidFill>
            <a:srgbClr val="E8E2CF"/>
          </a:solidFill>
          <a:ln/>
        </p:spPr>
      </p:sp>
      <p:sp>
        <p:nvSpPr>
          <p:cNvPr id="57" name="Shape 55"/>
          <p:cNvSpPr/>
          <p:nvPr/>
        </p:nvSpPr>
        <p:spPr>
          <a:xfrm>
            <a:off x="8113828" y="132439"/>
            <a:ext cx="46105" cy="46105"/>
          </a:xfrm>
          <a:prstGeom prst="ellipse">
            <a:avLst/>
          </a:prstGeom>
          <a:solidFill>
            <a:srgbClr val="E8E2CF"/>
          </a:solidFill>
          <a:ln/>
        </p:spPr>
      </p:sp>
      <p:sp>
        <p:nvSpPr>
          <p:cNvPr id="58" name="Shape 56"/>
          <p:cNvSpPr/>
          <p:nvPr/>
        </p:nvSpPr>
        <p:spPr>
          <a:xfrm>
            <a:off x="3969248" y="586675"/>
            <a:ext cx="53350" cy="53350"/>
          </a:xfrm>
          <a:prstGeom prst="ellipse">
            <a:avLst/>
          </a:prstGeom>
          <a:solidFill>
            <a:srgbClr val="E8E2CF"/>
          </a:solidFill>
          <a:ln/>
        </p:spPr>
      </p:sp>
      <p:sp>
        <p:nvSpPr>
          <p:cNvPr id="59" name="Shape 57"/>
          <p:cNvSpPr/>
          <p:nvPr/>
        </p:nvSpPr>
        <p:spPr>
          <a:xfrm>
            <a:off x="2552616" y="287880"/>
            <a:ext cx="35208" cy="35208"/>
          </a:xfrm>
          <a:prstGeom prst="ellipse">
            <a:avLst/>
          </a:prstGeom>
          <a:solidFill>
            <a:srgbClr val="E8E2CF"/>
          </a:solidFill>
          <a:ln/>
        </p:spPr>
      </p:sp>
      <p:sp>
        <p:nvSpPr>
          <p:cNvPr id="60" name="Shape 58"/>
          <p:cNvSpPr/>
          <p:nvPr/>
        </p:nvSpPr>
        <p:spPr>
          <a:xfrm>
            <a:off x="1360261" y="1601042"/>
            <a:ext cx="23770" cy="23770"/>
          </a:xfrm>
          <a:prstGeom prst="ellipse">
            <a:avLst/>
          </a:prstGeom>
          <a:solidFill>
            <a:srgbClr val="4DF0FF"/>
          </a:solidFill>
          <a:ln/>
        </p:spPr>
      </p:sp>
      <p:sp>
        <p:nvSpPr>
          <p:cNvPr id="61" name="Shape 59"/>
          <p:cNvSpPr/>
          <p:nvPr/>
        </p:nvSpPr>
        <p:spPr>
          <a:xfrm>
            <a:off x="2048768" y="2283966"/>
            <a:ext cx="32583" cy="32583"/>
          </a:xfrm>
          <a:prstGeom prst="ellipse">
            <a:avLst/>
          </a:prstGeom>
          <a:solidFill>
            <a:srgbClr val="E8E2CF"/>
          </a:solidFill>
          <a:ln/>
        </p:spPr>
      </p:sp>
      <p:sp>
        <p:nvSpPr>
          <p:cNvPr id="62" name="Shape 60"/>
          <p:cNvSpPr/>
          <p:nvPr/>
        </p:nvSpPr>
        <p:spPr>
          <a:xfrm>
            <a:off x="11617572" y="6642305"/>
            <a:ext cx="42674" cy="42674"/>
          </a:xfrm>
          <a:prstGeom prst="ellipse">
            <a:avLst/>
          </a:prstGeom>
          <a:solidFill>
            <a:srgbClr val="E8E2CF"/>
          </a:solidFill>
          <a:ln/>
        </p:spPr>
      </p:sp>
      <p:sp>
        <p:nvSpPr>
          <p:cNvPr id="63" name="Shape 61"/>
          <p:cNvSpPr/>
          <p:nvPr/>
        </p:nvSpPr>
        <p:spPr>
          <a:xfrm>
            <a:off x="1686537" y="2287640"/>
            <a:ext cx="52690" cy="52690"/>
          </a:xfrm>
          <a:prstGeom prst="ellipse">
            <a:avLst/>
          </a:prstGeom>
          <a:solidFill>
            <a:srgbClr val="E8E2CF"/>
          </a:solidFill>
          <a:ln/>
        </p:spPr>
      </p:sp>
      <p:sp>
        <p:nvSpPr>
          <p:cNvPr id="64" name="Shape 62"/>
          <p:cNvSpPr/>
          <p:nvPr/>
        </p:nvSpPr>
        <p:spPr>
          <a:xfrm>
            <a:off x="168815" y="1830616"/>
            <a:ext cx="36326" cy="36326"/>
          </a:xfrm>
          <a:prstGeom prst="ellipse">
            <a:avLst/>
          </a:prstGeom>
          <a:solidFill>
            <a:srgbClr val="FFE81F"/>
          </a:solidFill>
          <a:ln/>
        </p:spPr>
      </p:sp>
      <p:sp>
        <p:nvSpPr>
          <p:cNvPr id="65" name="Shape 63"/>
          <p:cNvSpPr/>
          <p:nvPr/>
        </p:nvSpPr>
        <p:spPr>
          <a:xfrm>
            <a:off x="11307408" y="394509"/>
            <a:ext cx="39065" cy="39065"/>
          </a:xfrm>
          <a:prstGeom prst="ellipse">
            <a:avLst/>
          </a:prstGeom>
          <a:solidFill>
            <a:srgbClr val="E8E2CF"/>
          </a:solidFill>
          <a:ln/>
        </p:spPr>
      </p:sp>
      <p:sp>
        <p:nvSpPr>
          <p:cNvPr id="66" name="Shape 64"/>
          <p:cNvSpPr/>
          <p:nvPr/>
        </p:nvSpPr>
        <p:spPr>
          <a:xfrm>
            <a:off x="6953705" y="6839279"/>
            <a:ext cx="41128" cy="41128"/>
          </a:xfrm>
          <a:prstGeom prst="ellipse">
            <a:avLst/>
          </a:prstGeom>
          <a:solidFill>
            <a:srgbClr val="4DF0FF"/>
          </a:solidFill>
          <a:ln/>
        </p:spPr>
      </p:sp>
      <p:sp>
        <p:nvSpPr>
          <p:cNvPr id="67" name="Shape 65"/>
          <p:cNvSpPr/>
          <p:nvPr/>
        </p:nvSpPr>
        <p:spPr>
          <a:xfrm>
            <a:off x="11126787" y="573820"/>
            <a:ext cx="17072" cy="17072"/>
          </a:xfrm>
          <a:prstGeom prst="ellipse">
            <a:avLst/>
          </a:prstGeom>
          <a:solidFill>
            <a:srgbClr val="E8E2CF"/>
          </a:solidFill>
          <a:ln/>
        </p:spPr>
      </p:sp>
      <p:sp>
        <p:nvSpPr>
          <p:cNvPr id="68" name="Shape 66"/>
          <p:cNvSpPr/>
          <p:nvPr/>
        </p:nvSpPr>
        <p:spPr>
          <a:xfrm>
            <a:off x="11475556" y="1442043"/>
            <a:ext cx="47254" cy="47254"/>
          </a:xfrm>
          <a:prstGeom prst="ellipse">
            <a:avLst/>
          </a:prstGeom>
          <a:solidFill>
            <a:srgbClr val="E8E2CF"/>
          </a:solidFill>
          <a:ln/>
        </p:spPr>
      </p:sp>
      <p:sp>
        <p:nvSpPr>
          <p:cNvPr id="69" name="Shape 67"/>
          <p:cNvSpPr/>
          <p:nvPr/>
        </p:nvSpPr>
        <p:spPr>
          <a:xfrm>
            <a:off x="822724" y="3318017"/>
            <a:ext cx="46509" cy="46509"/>
          </a:xfrm>
          <a:prstGeom prst="ellipse">
            <a:avLst/>
          </a:prstGeom>
          <a:solidFill>
            <a:srgbClr val="E8E2CF"/>
          </a:solidFill>
          <a:ln/>
        </p:spPr>
      </p:sp>
      <p:sp>
        <p:nvSpPr>
          <p:cNvPr id="70" name="Shape 68"/>
          <p:cNvSpPr/>
          <p:nvPr/>
        </p:nvSpPr>
        <p:spPr>
          <a:xfrm>
            <a:off x="165406" y="4686396"/>
            <a:ext cx="17469" cy="17469"/>
          </a:xfrm>
          <a:prstGeom prst="ellipse">
            <a:avLst/>
          </a:prstGeom>
          <a:solidFill>
            <a:srgbClr val="4DF0FF"/>
          </a:solidFill>
          <a:ln/>
        </p:spPr>
      </p:sp>
      <p:sp>
        <p:nvSpPr>
          <p:cNvPr id="71" name="Shape 69"/>
          <p:cNvSpPr/>
          <p:nvPr/>
        </p:nvSpPr>
        <p:spPr>
          <a:xfrm>
            <a:off x="4688294" y="507226"/>
            <a:ext cx="18865" cy="18865"/>
          </a:xfrm>
          <a:prstGeom prst="ellipse">
            <a:avLst/>
          </a:prstGeom>
          <a:solidFill>
            <a:srgbClr val="E8E2CF"/>
          </a:solidFill>
          <a:ln/>
        </p:spPr>
      </p:sp>
      <p:sp>
        <p:nvSpPr>
          <p:cNvPr id="72" name="Shape 70"/>
          <p:cNvSpPr/>
          <p:nvPr/>
        </p:nvSpPr>
        <p:spPr>
          <a:xfrm>
            <a:off x="4818888" y="777240"/>
            <a:ext cx="2560320" cy="2560320"/>
          </a:xfrm>
          <a:prstGeom prst="ellipse">
            <a:avLst/>
          </a:prstGeom>
          <a:ln w="15875">
            <a:solidFill>
              <a:srgbClr val="3C392C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5934456" y="1892808"/>
            <a:ext cx="329184" cy="329184"/>
          </a:xfrm>
          <a:prstGeom prst="ellipse">
            <a:avLst/>
          </a:prstGeom>
          <a:solidFill>
            <a:srgbClr val="FFE81F"/>
          </a:solidFill>
          <a:ln/>
        </p:spPr>
      </p:sp>
      <p:sp>
        <p:nvSpPr>
          <p:cNvPr id="74" name="Text 72"/>
          <p:cNvSpPr txBox="1"/>
          <p:nvPr/>
        </p:nvSpPr>
        <p:spPr>
          <a:xfrm>
            <a:off x="640080" y="35661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spc="200" kern="0" dirty="0">
                <a:solidFill>
                  <a:srgbClr val="FFE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May the source be with you.</a:t>
            </a:r>
            <a:endParaRPr lang="en-US" sz="4000" dirty="0"/>
          </a:p>
        </p:txBody>
      </p:sp>
      <p:sp>
        <p:nvSpPr>
          <p:cNvPr id="75" name="Text 73"/>
          <p:cNvSpPr txBox="1"/>
          <p:nvPr/>
        </p:nvSpPr>
        <p:spPr>
          <a:xfrm>
            <a:off x="640080" y="4443984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8E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Star Wars Explorer  —  a TypeScript monorepo: Fastify API, Expo mobile app, web app next.</a:t>
            </a:r>
            <a:endParaRPr lang="en-US" sz="1400" dirty="0"/>
          </a:p>
        </p:txBody>
      </p:sp>
      <p:sp>
        <p:nvSpPr>
          <p:cNvPr id="76" name="Text 74"/>
          <p:cNvSpPr txBox="1"/>
          <p:nvPr/>
        </p:nvSpPr>
        <p:spPr>
          <a:xfrm>
            <a:off x="640080" y="4992624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60" kern="0" dirty="0">
                <a:solidFill>
                  <a:srgbClr val="4D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GITHUB.COM/SH3Y0/STARWARSWIKI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Star Wars Explorer — Project Brief</dc:title>
  <dc:subject>PptxGenJS Presentation</dc:subject>
  <dc:creator>Star Wars Explorer</dc:creator>
  <cp:lastModifiedBy>Star Wars Explorer</cp:lastModifiedBy>
  <cp:revision>1</cp:revision>
  <dcterms:created xsi:type="dcterms:W3CDTF">2026-09-17T07:41:56Z</dcterms:created>
  <dcterms:modified xsi:type="dcterms:W3CDTF">2026-09-17T07:41:56Z</dcterms:modified>
</cp:coreProperties>
</file>